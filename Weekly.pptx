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39"/>
  </p:notesMasterIdLst>
  <p:sldIdLst>
    <p:sldId id="279" r:id="rId2"/>
    <p:sldId id="285" r:id="rId3"/>
    <p:sldId id="287" r:id="rId4"/>
    <p:sldId id="288" r:id="rId5"/>
    <p:sldId id="289" r:id="rId6"/>
    <p:sldId id="290" r:id="rId7"/>
    <p:sldId id="291" r:id="rId8"/>
    <p:sldId id="292" r:id="rId9"/>
    <p:sldId id="294" r:id="rId10"/>
    <p:sldId id="293" r:id="rId11"/>
    <p:sldId id="295" r:id="rId12"/>
    <p:sldId id="296" r:id="rId13"/>
    <p:sldId id="297" r:id="rId14"/>
    <p:sldId id="298" r:id="rId15"/>
    <p:sldId id="299" r:id="rId16"/>
    <p:sldId id="301" r:id="rId17"/>
    <p:sldId id="300" r:id="rId18"/>
    <p:sldId id="302" r:id="rId19"/>
    <p:sldId id="303" r:id="rId20"/>
    <p:sldId id="304" r:id="rId21"/>
    <p:sldId id="305" r:id="rId22"/>
    <p:sldId id="308" r:id="rId23"/>
    <p:sldId id="307" r:id="rId24"/>
    <p:sldId id="306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27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9372" autoAdjust="0"/>
  </p:normalViewPr>
  <p:slideViewPr>
    <p:cSldViewPr>
      <p:cViewPr varScale="1">
        <p:scale>
          <a:sx n="95" d="100"/>
          <a:sy n="95" d="100"/>
        </p:scale>
        <p:origin x="1104" y="84"/>
      </p:cViewPr>
      <p:guideLst>
        <p:guide orient="horz" pos="2160"/>
        <p:guide pos="3840"/>
        <p:guide orient="horz" pos="36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99CD5-D962-4CE6-B084-B7B9F527C8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B2DFA-04F6-4713-86A1-47E953577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2DFA-04F6-4713-86A1-47E953577B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1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available MRI data in our FNIH subset are MPR-derived views reconstructed from sagittal 3D DESS acquisitions, rather than the native raw DESS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2DFA-04F6-4713-86A1-47E953577B2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00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of standard deviations from two or more independent groups</a:t>
            </a:r>
          </a:p>
          <a:p>
            <a:r>
              <a:rPr lang="en-US" dirty="0"/>
              <a:t>So the group is </a:t>
            </a:r>
            <a:r>
              <a:rPr lang="en-US" b="1" dirty="0"/>
              <a:t>all slices belonging to that lesion-method-dose condition</a:t>
            </a:r>
            <a:r>
              <a:rPr lang="en-US" dirty="0"/>
              <a:t>, not one set</a:t>
            </a:r>
          </a:p>
          <a:p>
            <a:r>
              <a:rPr lang="en-US" dirty="0"/>
              <a:t>for one group, we keep </a:t>
            </a:r>
            <a:r>
              <a:rPr lang="en-US" b="1" dirty="0"/>
              <a:t>all slice logits</a:t>
            </a:r>
            <a:r>
              <a:rPr lang="en-US" dirty="0"/>
              <a:t> and split them by truth label: SP and SA</a:t>
            </a:r>
            <a:br>
              <a:rPr lang="en-US" dirty="0"/>
            </a:br>
            <a:r>
              <a:rPr lang="en-US" dirty="0"/>
              <a:t>then compute d’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2DFA-04F6-4713-86A1-47E953577B2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14924" y="1567537"/>
            <a:ext cx="11085097" cy="2387600"/>
          </a:xfrm>
        </p:spPr>
        <p:txBody>
          <a:bodyPr anchor="t"/>
          <a:lstStyle>
            <a:lvl1pPr algn="l">
              <a:defRPr sz="54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6958" y="2610852"/>
            <a:ext cx="9144000" cy="1311440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184" y="2862944"/>
            <a:ext cx="3237801" cy="315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9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defRPr sz="4000"/>
            </a:lvl1pPr>
            <a:lvl2pPr marL="914400" indent="-457200">
              <a:defRPr sz="3600"/>
            </a:lvl2pPr>
            <a:lvl3pPr marL="1371600" indent="-457200">
              <a:defRPr sz="3200"/>
            </a:lvl3pPr>
            <a:lvl4pPr marL="1828800" indent="-457200">
              <a:defRPr sz="2800"/>
            </a:lvl4pPr>
            <a:lvl5pPr marL="2286000" indent="-457200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356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defRPr sz="4000"/>
            </a:lvl1pPr>
            <a:lvl2pPr marL="914400" indent="-457200">
              <a:defRPr sz="3600"/>
            </a:lvl2pPr>
            <a:lvl3pPr marL="1371600" indent="-457200">
              <a:defRPr sz="3200"/>
            </a:lvl3pPr>
            <a:lvl4pPr marL="1828800" indent="-457200">
              <a:defRPr sz="2800"/>
            </a:lvl4pPr>
            <a:lvl5pPr marL="2286000" indent="-457200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324600"/>
            <a:ext cx="1905001" cy="29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4866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76" y="365125"/>
            <a:ext cx="1218882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38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51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88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436" y="2438400"/>
            <a:ext cx="6016764" cy="165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80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953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152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9601200" y="4648200"/>
            <a:ext cx="2590801" cy="2209800"/>
            <a:chOff x="9601200" y="4648200"/>
            <a:chExt cx="2590801" cy="2209800"/>
          </a:xfrm>
        </p:grpSpPr>
        <p:pic>
          <p:nvPicPr>
            <p:cNvPr id="7" name="Picture 6"/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935" b="19355"/>
            <a:stretch/>
          </p:blipFill>
          <p:spPr>
            <a:xfrm>
              <a:off x="10058401" y="4953000"/>
              <a:ext cx="2133600" cy="1905000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 userDrawn="1"/>
          </p:nvSpPr>
          <p:spPr>
            <a:xfrm>
              <a:off x="9601200" y="4648200"/>
              <a:ext cx="2590800" cy="2209800"/>
            </a:xfrm>
            <a:prstGeom prst="rect">
              <a:avLst/>
            </a:prstGeom>
            <a:solidFill>
              <a:schemeClr val="tx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1343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697" r:id="rId2"/>
    <p:sldLayoutId id="214748370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400" kern="1200" cap="none" baseline="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-"/>
        <a:defRPr sz="4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6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8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86000" indent="-457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pegahahadian/Tab2Tex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Weekly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Pegah Ahadian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4419600"/>
            <a:ext cx="292179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C1F3-6A3F-F8CB-B1B6-94E93928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Multimodal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89D0A-144B-D716-D0EF-69E0ADAA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FNIH cohort</a:t>
            </a:r>
          </a:p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Xray, MRI, Clinical</a:t>
            </a:r>
          </a:p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 from images</a:t>
            </a:r>
          </a:p>
          <a:p>
            <a:pPr marL="0" indent="0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78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868B-AB75-B085-1AD4-07885B24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7D5B-E3B1-6C65-E749-562307F0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Feature Extraction - Imaging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10E6FA-51FA-0A7F-3E9F-9E2F5F8B1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Instantiate a 2D visual encoder (ResNet-18)</a:t>
            </a:r>
            <a:endParaRPr lang="en-US" sz="1400" dirty="0"/>
          </a:p>
          <a:p>
            <a:pPr lvl="1"/>
            <a:r>
              <a:rPr lang="en-US" sz="1400" dirty="0"/>
              <a:t>Resnet18(pretrained=True) </a:t>
            </a:r>
          </a:p>
          <a:p>
            <a:pPr lvl="1"/>
            <a:r>
              <a:rPr lang="en-US" sz="1400" b="1" dirty="0"/>
              <a:t>Feature dimensionality:</a:t>
            </a:r>
            <a:r>
              <a:rPr lang="en-US" sz="1400" dirty="0"/>
              <a:t> 512 </a:t>
            </a:r>
          </a:p>
          <a:p>
            <a:pPr lvl="1"/>
            <a:r>
              <a:rPr lang="en-US" sz="1400" dirty="0"/>
              <a:t>Resize every image to 224×224, ImageNet mean/std normalization, converts to RGB</a:t>
            </a:r>
          </a:p>
          <a:p>
            <a:pPr lvl="1"/>
            <a:r>
              <a:rPr lang="en-US" sz="1400" b="1" dirty="0"/>
              <a:t>Iterate over each patient folder and embed all JPG/PNG files</a:t>
            </a:r>
            <a:endParaRPr lang="en-US" sz="1400" dirty="0"/>
          </a:p>
          <a:p>
            <a:pPr lvl="1"/>
            <a:r>
              <a:rPr lang="en-US" sz="1400" dirty="0"/>
              <a:t>For each </a:t>
            </a:r>
            <a:r>
              <a:rPr lang="en-US" sz="1400" dirty="0" err="1"/>
              <a:t>patient_id</a:t>
            </a:r>
            <a:r>
              <a:rPr lang="en-US" sz="1400" dirty="0"/>
              <a:t> directory:</a:t>
            </a:r>
          </a:p>
          <a:p>
            <a:pPr lvl="2"/>
            <a:r>
              <a:rPr lang="en-US" sz="1400" dirty="0"/>
              <a:t>Initialize two “bags” of vectors: </a:t>
            </a:r>
            <a:r>
              <a:rPr lang="en-US" sz="1400" dirty="0" err="1"/>
              <a:t>x_vecs</a:t>
            </a:r>
            <a:r>
              <a:rPr lang="en-US" sz="1400" dirty="0"/>
              <a:t> (X-ray candidates) and </a:t>
            </a:r>
            <a:r>
              <a:rPr lang="en-US" sz="1400" dirty="0" err="1"/>
              <a:t>m_vecs</a:t>
            </a:r>
            <a:r>
              <a:rPr lang="en-US" sz="1400" dirty="0"/>
              <a:t> (MRI candidates).</a:t>
            </a:r>
          </a:p>
          <a:p>
            <a:pPr lvl="2"/>
            <a:r>
              <a:rPr lang="en-US" sz="1400" dirty="0"/>
              <a:t>For each image file:</a:t>
            </a:r>
          </a:p>
          <a:p>
            <a:pPr lvl="3"/>
            <a:r>
              <a:rPr lang="en-US" sz="1400" dirty="0"/>
              <a:t>Compute its embedding (</a:t>
            </a:r>
            <a:r>
              <a:rPr lang="en-US" sz="1400" dirty="0" err="1"/>
              <a:t>vec</a:t>
            </a:r>
            <a:r>
              <a:rPr lang="en-US" sz="1400" dirty="0"/>
              <a:t>) and record the original size (size).</a:t>
            </a:r>
          </a:p>
          <a:p>
            <a:pPr marL="0" indent="0">
              <a:buNone/>
            </a:pPr>
            <a:r>
              <a:rPr lang="en-US" sz="1400" b="1" dirty="0"/>
              <a:t>Aggregate per-patient per-modality features </a:t>
            </a:r>
          </a:p>
          <a:p>
            <a:pPr marL="0" indent="0">
              <a:buNone/>
            </a:pPr>
            <a:r>
              <a:rPr lang="en-US" sz="1400" dirty="0" err="1"/>
              <a:t>xray_embeddings</a:t>
            </a:r>
            <a:r>
              <a:rPr lang="en-US" sz="1400" dirty="0"/>
              <a:t>[</a:t>
            </a:r>
            <a:r>
              <a:rPr lang="en-US" sz="1400" dirty="0" err="1"/>
              <a:t>patient_id</a:t>
            </a:r>
            <a:r>
              <a:rPr lang="en-US" sz="1400" dirty="0"/>
              <a:t>] = mean(</a:t>
            </a:r>
            <a:r>
              <a:rPr lang="en-US" sz="1400" dirty="0" err="1"/>
              <a:t>x_vecs</a:t>
            </a:r>
            <a:r>
              <a:rPr lang="en-US" sz="1400" dirty="0"/>
              <a:t>, axis=0) → </a:t>
            </a:r>
            <a:r>
              <a:rPr lang="en-US" sz="1400" b="1" dirty="0"/>
              <a:t>shape (512,) </a:t>
            </a:r>
            <a:r>
              <a:rPr lang="en-US" sz="1400" dirty="0" err="1"/>
              <a:t>xray_embeddings.pkl</a:t>
            </a:r>
            <a:r>
              <a:rPr lang="en-US" sz="1400" dirty="0"/>
              <a:t> 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 err="1"/>
              <a:t>mri_embeddings</a:t>
            </a:r>
            <a:r>
              <a:rPr lang="en-US" sz="1400" dirty="0"/>
              <a:t>[</a:t>
            </a:r>
            <a:r>
              <a:rPr lang="en-US" sz="1400" dirty="0" err="1"/>
              <a:t>patient_id</a:t>
            </a:r>
            <a:r>
              <a:rPr lang="en-US" sz="1400" dirty="0"/>
              <a:t>] = mean(</a:t>
            </a:r>
            <a:r>
              <a:rPr lang="en-US" sz="1400" dirty="0" err="1"/>
              <a:t>m_vecs</a:t>
            </a:r>
            <a:r>
              <a:rPr lang="en-US" sz="1400" dirty="0"/>
              <a:t>, axis=0) → </a:t>
            </a:r>
            <a:r>
              <a:rPr lang="en-US" sz="1400" b="1" dirty="0"/>
              <a:t>shape (512,)  </a:t>
            </a:r>
            <a:r>
              <a:rPr lang="en-US" sz="1400" dirty="0" err="1"/>
              <a:t>mri_embeddings.pkl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b="1" dirty="0"/>
              <a:t>Compress the high-dimensional image space (1024) down to a compact latent (64):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 err="1"/>
              <a:t>Concat</a:t>
            </a:r>
            <a:r>
              <a:rPr lang="en-US" altLang="en-US" sz="1400" dirty="0"/>
              <a:t> X-ray + MRI → 1024-D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Linear(1024 → 256) → BN → </a:t>
            </a:r>
            <a:r>
              <a:rPr lang="en-US" altLang="en-US" sz="1400" dirty="0" err="1"/>
              <a:t>ReLU</a:t>
            </a:r>
            <a:r>
              <a:rPr lang="en-US" altLang="en-US" sz="1400" dirty="0"/>
              <a:t> → Dropout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Linear(256 → 128) → BN → </a:t>
            </a:r>
            <a:r>
              <a:rPr lang="en-US" altLang="en-US" sz="1400" dirty="0" err="1"/>
              <a:t>ReLU</a:t>
            </a:r>
            <a:r>
              <a:rPr lang="en-US" altLang="en-US" sz="1400" dirty="0"/>
              <a:t> → Dropout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Linear(128 → 64) → BN → </a:t>
            </a:r>
            <a:r>
              <a:rPr lang="en-US" altLang="en-US" sz="1400" dirty="0" err="1"/>
              <a:t>ReLU</a:t>
            </a:r>
            <a:r>
              <a:rPr lang="en-US" altLang="en-US" sz="1400" dirty="0"/>
              <a:t> → Dropout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Output embedding =</a:t>
            </a:r>
            <a:r>
              <a:rPr lang="en-US" altLang="en-US" sz="1400" b="1" dirty="0"/>
              <a:t> 64-D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068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73B9-9685-F61B-669C-192908DE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and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4DA7B-CB10-FD4E-7ED8-83B4ED3BC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PROGRESSOR_STATUS = 1 if any of JSPRG, PAINONLYPRG, or JSPAINPRG = 1; = 0 if NONPRG = 1.</a:t>
            </a:r>
          </a:p>
          <a:p>
            <a:pPr marL="0" indent="0">
              <a:buNone/>
            </a:pPr>
            <a:r>
              <a:rPr lang="en-US" sz="1400" b="1" dirty="0"/>
              <a:t>MLP</a:t>
            </a:r>
            <a:r>
              <a:rPr lang="en-US" sz="1400" dirty="0"/>
              <a:t> with </a:t>
            </a:r>
            <a:r>
              <a:rPr lang="en-US" sz="1400" b="1" dirty="0"/>
              <a:t>2 fully connected (Linear) layers</a:t>
            </a:r>
            <a:r>
              <a:rPr lang="en-US" sz="1400" dirty="0"/>
              <a:t> each followed by BN, </a:t>
            </a:r>
            <a:r>
              <a:rPr lang="en-US" sz="1400" dirty="0" err="1"/>
              <a:t>ReLU</a:t>
            </a:r>
            <a:r>
              <a:rPr lang="en-US" sz="1400" dirty="0"/>
              <a:t>, Dropout</a:t>
            </a:r>
          </a:p>
          <a:p>
            <a:pPr marL="0" indent="0">
              <a:buNone/>
            </a:pPr>
            <a:r>
              <a:rPr lang="en-US" sz="1400" dirty="0"/>
              <a:t>Output: 64D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Fusion by concatenation</a:t>
            </a:r>
            <a:r>
              <a:rPr lang="en-US" sz="1600" dirty="0"/>
              <a:t>:</a:t>
            </a:r>
          </a:p>
          <a:p>
            <a:r>
              <a:rPr lang="en-US" sz="1400" dirty="0"/>
              <a:t>Stack them side-by-side along the </a:t>
            </a:r>
            <a:r>
              <a:rPr lang="en-US" sz="1400" b="1" dirty="0"/>
              <a:t>feature dimension (dim=1)</a:t>
            </a:r>
            <a:r>
              <a:rPr lang="en-US" sz="1400" dirty="0"/>
              <a:t>.</a:t>
            </a:r>
          </a:p>
          <a:p>
            <a:r>
              <a:rPr lang="en-US" sz="1400" dirty="0"/>
              <a:t>Resulting vector: size hidden (64 + 64 = 128).</a:t>
            </a:r>
          </a:p>
          <a:p>
            <a:pPr marL="0" indent="0">
              <a:buNone/>
            </a:pPr>
            <a:r>
              <a:rPr lang="en-US" sz="1400" dirty="0"/>
              <a:t>Clinical embedding (64) ┐</a:t>
            </a:r>
          </a:p>
          <a:p>
            <a:pPr marL="0" indent="0">
              <a:buNone/>
            </a:pPr>
            <a:r>
              <a:rPr lang="en-US" sz="1400" dirty="0"/>
              <a:t>                         ├─ </a:t>
            </a:r>
            <a:r>
              <a:rPr lang="en-US" sz="1400" dirty="0" err="1"/>
              <a:t>Concat</a:t>
            </a:r>
            <a:r>
              <a:rPr lang="en-US" sz="1400" dirty="0"/>
              <a:t> → (128)</a:t>
            </a:r>
          </a:p>
          <a:p>
            <a:pPr marL="0" indent="0">
              <a:buNone/>
            </a:pPr>
            <a:r>
              <a:rPr lang="en-US" sz="1400" dirty="0"/>
              <a:t>Image embedding (64)    ┘</a:t>
            </a:r>
          </a:p>
          <a:p>
            <a:pPr marL="0" indent="0">
              <a:buNone/>
            </a:pPr>
            <a:r>
              <a:rPr lang="en-US" sz="1400" dirty="0"/>
              <a:t>       ↓</a:t>
            </a:r>
          </a:p>
          <a:p>
            <a:pPr marL="0" indent="0">
              <a:buNone/>
            </a:pPr>
            <a:r>
              <a:rPr lang="en-US" sz="1400" dirty="0"/>
              <a:t>Linear(128→64) → BN → </a:t>
            </a:r>
            <a:r>
              <a:rPr lang="en-US" sz="1400" dirty="0" err="1"/>
              <a:t>ReLU</a:t>
            </a:r>
            <a:r>
              <a:rPr lang="en-US" sz="1400" dirty="0"/>
              <a:t> → Dropout</a:t>
            </a:r>
          </a:p>
          <a:p>
            <a:pPr marL="0" indent="0">
              <a:buNone/>
            </a:pPr>
            <a:r>
              <a:rPr lang="en-US" sz="1400" dirty="0"/>
              <a:t>       ↓</a:t>
            </a:r>
          </a:p>
          <a:p>
            <a:pPr marL="0" indent="0">
              <a:buNone/>
            </a:pPr>
            <a:r>
              <a:rPr lang="en-US" sz="1400" dirty="0"/>
              <a:t>Linear(64→2) → </a:t>
            </a:r>
            <a:r>
              <a:rPr lang="en-US" sz="1400" dirty="0" err="1"/>
              <a:t>Softmax</a:t>
            </a:r>
            <a:r>
              <a:rPr lang="en-US" sz="1400" dirty="0"/>
              <a:t> → [Non-Progressor / Progressor]</a:t>
            </a:r>
          </a:p>
        </p:txBody>
      </p:sp>
    </p:spTree>
    <p:extLst>
      <p:ext uri="{BB962C8B-B14F-4D97-AF65-F5344CB8AC3E}">
        <p14:creationId xmlns:p14="http://schemas.microsoft.com/office/powerpoint/2010/main" val="427964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45A3-5DDC-27EA-3725-1C9B136C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E8662-2DB1-6CE1-6EFB-C8A5761AD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Model Test Accuracy (on Held-Out Test Set): 0.7536</a:t>
            </a:r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1706C-6E55-2072-318E-AD5EBEA58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68" y="2382301"/>
            <a:ext cx="4940300" cy="404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CED1-46DA-C292-0E2D-15E572D9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1143000"/>
          </a:xfrm>
        </p:spPr>
        <p:txBody>
          <a:bodyPr/>
          <a:lstStyle/>
          <a:p>
            <a:r>
              <a:rPr lang="en-US" dirty="0"/>
              <a:t>Update 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B8F6-353B-994E-45B6-5439A25D8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5181599"/>
          </a:xfrm>
        </p:spPr>
        <p:txBody>
          <a:bodyPr/>
          <a:lstStyle/>
          <a:p>
            <a:r>
              <a:rPr lang="en-US" sz="1600" dirty="0"/>
              <a:t>From clinical :</a:t>
            </a:r>
          </a:p>
          <a:p>
            <a:r>
              <a:rPr lang="en-US" sz="1600" dirty="0"/>
              <a:t>V00XRJSM V00XRKL V00XRJSL V01XRJSM V01XRKL V01XRJSL V03XRJSM V03XRKL V03XRJSL V05XRJSM V05XRKL V05XRJSL V00MCMJSW V01MCMJSW V03MCMJSW V05MCMJSW P01BMI V00AGE P02SEX V00WOMKP V01WOMKP V03WOMKP V05WOMKP V00WOMADL V01WOMADL V03WOMADL V05WOMADL</a:t>
            </a:r>
          </a:p>
          <a:p>
            <a:pPr marL="0" indent="0">
              <a:buNone/>
            </a:pPr>
            <a:r>
              <a:rPr lang="en-US" sz="1600" dirty="0"/>
              <a:t>Outcome: Progression: </a:t>
            </a:r>
            <a:r>
              <a:rPr lang="en-US" sz="1600" b="1" dirty="0"/>
              <a:t>48</a:t>
            </a:r>
            <a:r>
              <a:rPr lang="en-US" sz="1600" dirty="0"/>
              <a:t> months V06</a:t>
            </a:r>
          </a:p>
          <a:p>
            <a:pPr marL="0" indent="0">
              <a:buNone/>
            </a:pPr>
            <a:r>
              <a:rPr lang="en-US" sz="1400" dirty="0"/>
              <a:t>Best Validation Accuracy: 0.7818</a:t>
            </a:r>
          </a:p>
          <a:p>
            <a:pPr marL="0" indent="0">
              <a:buNone/>
            </a:pPr>
            <a:r>
              <a:rPr lang="en-US" sz="1400" dirty="0"/>
              <a:t>Test Accuracy: 0.6667</a:t>
            </a:r>
          </a:p>
          <a:p>
            <a:r>
              <a:rPr lang="en-US" sz="1400" dirty="0"/>
              <a:t>Classification Report:</a:t>
            </a:r>
          </a:p>
          <a:p>
            <a:r>
              <a:rPr lang="en-US" sz="1400" dirty="0"/>
              <a:t>precision    recall  f1-score   support</a:t>
            </a:r>
          </a:p>
          <a:p>
            <a:r>
              <a:rPr lang="en-US" sz="1400" dirty="0"/>
              <a:t>Non-Progressor (0)       0.48      0.55      0.51        22</a:t>
            </a:r>
          </a:p>
          <a:p>
            <a:r>
              <a:rPr lang="en-US" sz="1400" dirty="0"/>
              <a:t>    Progressor (1)       0.77      0.72      0.75        47</a:t>
            </a:r>
          </a:p>
          <a:p>
            <a:r>
              <a:rPr lang="en-US" sz="1400" dirty="0"/>
              <a:t>          accuracy                           </a:t>
            </a:r>
            <a:r>
              <a:rPr lang="en-US" sz="1400" b="1" dirty="0"/>
              <a:t>0.67</a:t>
            </a:r>
            <a:r>
              <a:rPr lang="en-US" sz="1400" dirty="0"/>
              <a:t>        69</a:t>
            </a:r>
          </a:p>
          <a:p>
            <a:pPr marL="0" indent="0">
              <a:buNone/>
            </a:pPr>
            <a:r>
              <a:rPr lang="fr-FR" sz="1400" dirty="0"/>
              <a:t>Confusion Matrix:</a:t>
            </a:r>
          </a:p>
          <a:p>
            <a:r>
              <a:rPr lang="fr-FR" sz="1400" dirty="0"/>
              <a:t>[[12 10]</a:t>
            </a:r>
          </a:p>
          <a:p>
            <a:r>
              <a:rPr lang="fr-FR" sz="1400" dirty="0"/>
              <a:t> [13 34]]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8817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35BC0-75E9-A17D-8ECC-452678A0D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8F45-41F9-4D89-5EDC-3D8B835E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1143000"/>
          </a:xfrm>
        </p:spPr>
        <p:txBody>
          <a:bodyPr/>
          <a:lstStyle/>
          <a:p>
            <a:r>
              <a:rPr lang="en-US" dirty="0"/>
              <a:t>Update Binary/ Multi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0D16C-D882-BA40-B2E0-0BB74EC4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4724400" cy="5181599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Binary:</a:t>
            </a:r>
            <a:br>
              <a:rPr lang="en-US" sz="1400" dirty="0"/>
            </a:br>
            <a:r>
              <a:rPr lang="en-US" sz="1400" dirty="0"/>
              <a:t>Best Validation Accuracy: 0.7818</a:t>
            </a:r>
          </a:p>
          <a:p>
            <a:pPr marL="0" indent="0">
              <a:buNone/>
            </a:pPr>
            <a:r>
              <a:rPr lang="en-US" sz="1400" dirty="0"/>
              <a:t>Test Accuracy: 0.6667</a:t>
            </a:r>
          </a:p>
          <a:p>
            <a:pPr marL="0" indent="0">
              <a:buNone/>
            </a:pPr>
            <a:r>
              <a:rPr lang="en-US" sz="1400" dirty="0"/>
              <a:t>Classification Report:</a:t>
            </a:r>
          </a:p>
          <a:p>
            <a:r>
              <a:rPr lang="en-US" sz="1400" dirty="0"/>
              <a:t>precision    recall  f1-score   support</a:t>
            </a:r>
          </a:p>
          <a:p>
            <a:r>
              <a:rPr lang="en-US" sz="1400" dirty="0"/>
              <a:t>Non-Progressor (0)       0.48      0.55      0.51        22</a:t>
            </a:r>
          </a:p>
          <a:p>
            <a:r>
              <a:rPr lang="en-US" sz="1400" dirty="0"/>
              <a:t>    Progressor (1)       0.77      0.72      0.75        47</a:t>
            </a:r>
          </a:p>
          <a:p>
            <a:r>
              <a:rPr lang="en-US" sz="1400" dirty="0"/>
              <a:t>          accuracy                           0</a:t>
            </a:r>
            <a:r>
              <a:rPr lang="en-US" sz="1400" b="1" dirty="0"/>
              <a:t>.67 </a:t>
            </a:r>
            <a:r>
              <a:rPr lang="en-US" sz="1400" dirty="0"/>
              <a:t>       69</a:t>
            </a:r>
          </a:p>
          <a:p>
            <a:pPr marL="0" indent="0">
              <a:buNone/>
            </a:pPr>
            <a:r>
              <a:rPr lang="fr-FR" sz="1400" dirty="0"/>
              <a:t>Confusion Matrix:</a:t>
            </a:r>
          </a:p>
          <a:p>
            <a:r>
              <a:rPr lang="fr-FR" sz="1400" dirty="0"/>
              <a:t>[[12 10]</a:t>
            </a:r>
          </a:p>
          <a:p>
            <a:r>
              <a:rPr lang="fr-FR" sz="1400" dirty="0"/>
              <a:t> [13 34]]</a:t>
            </a:r>
          </a:p>
          <a:p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790B87-E581-2DC2-F0D4-23F9488E9BEE}"/>
              </a:ext>
            </a:extLst>
          </p:cNvPr>
          <p:cNvSpPr txBox="1">
            <a:spLocks/>
          </p:cNvSpPr>
          <p:nvPr/>
        </p:nvSpPr>
        <p:spPr>
          <a:xfrm>
            <a:off x="7239000" y="1447800"/>
            <a:ext cx="4724400" cy="5181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-"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Multiclass:</a:t>
            </a:r>
          </a:p>
          <a:p>
            <a:pPr marL="0" indent="0">
              <a:buNone/>
            </a:pPr>
            <a:r>
              <a:rPr lang="en-US" sz="1400" dirty="0"/>
              <a:t>Best Validation Accuracy: 0.6000</a:t>
            </a:r>
          </a:p>
          <a:p>
            <a:pPr marL="0" indent="0">
              <a:buNone/>
            </a:pPr>
            <a:r>
              <a:rPr lang="en-US" sz="1400" dirty="0"/>
              <a:t>Test Accuracy: 0.4783</a:t>
            </a:r>
          </a:p>
          <a:p>
            <a:pPr marL="0" indent="0">
              <a:buNone/>
            </a:pPr>
            <a:r>
              <a:rPr lang="en-US" sz="1400" dirty="0"/>
              <a:t>Classification Report:</a:t>
            </a:r>
          </a:p>
          <a:p>
            <a:r>
              <a:rPr lang="en-US" sz="1400" dirty="0"/>
              <a:t>  precision    recall  f1-score   support</a:t>
            </a:r>
          </a:p>
          <a:p>
            <a:r>
              <a:rPr lang="en-US" sz="1400" dirty="0"/>
              <a:t>     0: NONPRG       0.52      0.50      0.51        22</a:t>
            </a:r>
          </a:p>
          <a:p>
            <a:r>
              <a:rPr lang="en-US" sz="1400" dirty="0"/>
              <a:t>      1: JSPRG       0.00      0.00      0.00        11</a:t>
            </a:r>
          </a:p>
          <a:p>
            <a:r>
              <a:rPr lang="en-US" sz="1400" dirty="0"/>
              <a:t>2: PAINONLYPRG       0.43      0.46      0.44        13</a:t>
            </a:r>
          </a:p>
          <a:p>
            <a:r>
              <a:rPr lang="en-US" sz="1400" dirty="0"/>
              <a:t>  3: JSPAINPRG       0.52      0.70      0.59        23</a:t>
            </a:r>
          </a:p>
          <a:p>
            <a:r>
              <a:rPr lang="en-US" sz="1400" dirty="0"/>
              <a:t>      accuracy                           0.48        69</a:t>
            </a:r>
          </a:p>
          <a:p>
            <a:r>
              <a:rPr lang="en-US" sz="1400" dirty="0"/>
              <a:t>     macro avg       0.37      0.41      0.39        69</a:t>
            </a:r>
          </a:p>
          <a:p>
            <a:r>
              <a:rPr lang="en-US" sz="1400" dirty="0"/>
              <a:t>  weighted avg       0.42      0.48      0.44        69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26511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9242-1CB7-D2B9-2566-6AF1047A0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10/09/2025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E630D-38FE-C9D5-C825-30ECB0993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4800600" cy="48053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Multiclass:</a:t>
            </a:r>
          </a:p>
          <a:p>
            <a:r>
              <a:rPr lang="en-US" sz="1400" dirty="0"/>
              <a:t>Test Accuracy: 0.4783</a:t>
            </a:r>
          </a:p>
          <a:p>
            <a:r>
              <a:rPr lang="en-US" sz="1400" dirty="0"/>
              <a:t>Classification Report:</a:t>
            </a:r>
          </a:p>
          <a:p>
            <a:r>
              <a:rPr lang="en-US" sz="1400" dirty="0"/>
              <a:t>                precision    recall  f1-score   support</a:t>
            </a:r>
          </a:p>
          <a:p>
            <a:r>
              <a:rPr lang="en-US" sz="1400" dirty="0"/>
              <a:t>     0: NONPRG       0.52      0.50      0.51        22</a:t>
            </a:r>
          </a:p>
          <a:p>
            <a:r>
              <a:rPr lang="en-US" sz="1400" dirty="0"/>
              <a:t>      1: JSPRG       0.00      0.00      0.00        11</a:t>
            </a:r>
          </a:p>
          <a:p>
            <a:r>
              <a:rPr lang="en-US" sz="1400" dirty="0"/>
              <a:t>2: PAINONLYPRG       0.43      0.46      0.44        13</a:t>
            </a:r>
          </a:p>
          <a:p>
            <a:r>
              <a:rPr lang="en-US" sz="1400" dirty="0"/>
              <a:t>  3: JSPAINPRG       0.52      0.70      0.59        23</a:t>
            </a:r>
          </a:p>
          <a:p>
            <a:r>
              <a:rPr lang="en-US" sz="1400" dirty="0"/>
              <a:t>      accuracy                           </a:t>
            </a:r>
            <a:r>
              <a:rPr lang="en-US" sz="1400" b="1" dirty="0"/>
              <a:t>0.48 </a:t>
            </a:r>
            <a:r>
              <a:rPr lang="en-US" sz="1400" dirty="0"/>
              <a:t>       69</a:t>
            </a:r>
          </a:p>
          <a:p>
            <a:r>
              <a:rPr lang="en-US" sz="1400" dirty="0"/>
              <a:t>     macro avg       0.37      0.41      0.39        69</a:t>
            </a:r>
          </a:p>
          <a:p>
            <a:r>
              <a:rPr lang="en-US" sz="1400" dirty="0"/>
              <a:t>  weighted avg       0.42      0.48      0.44        69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6" name="Picture 5" descr="A diagram of confusion matrix&#10;&#10;AI-generated content may be incorrect.">
            <a:extLst>
              <a:ext uri="{FF2B5EF4-FFF2-40B4-BE49-F238E27FC236}">
                <a16:creationId xmlns:a16="http://schemas.microsoft.com/office/drawing/2014/main" id="{E6049355-C0E1-EFC6-722E-12518D3882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828800"/>
            <a:ext cx="4038600" cy="368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0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326A-8F8C-A765-8AF1-5FF72B65C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4900B-19A5-1209-27D3-D400CEF0B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437"/>
            <a:ext cx="3810000" cy="5262563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Results for </a:t>
            </a:r>
            <a:r>
              <a:rPr lang="en-US" sz="1200" b="1" dirty="0"/>
              <a:t>JSPRG vs NONPRG </a:t>
            </a:r>
          </a:p>
          <a:p>
            <a:pPr marL="0" indent="0">
              <a:buNone/>
            </a:pPr>
            <a:r>
              <a:rPr lang="en-US" sz="1200" dirty="0"/>
              <a:t>Accuracy:       0.536</a:t>
            </a:r>
          </a:p>
          <a:p>
            <a:pPr marL="0" indent="0">
              <a:buNone/>
            </a:pPr>
            <a:r>
              <a:rPr lang="en-US" sz="1200" dirty="0"/>
              <a:t>precision    recall  f1-score   support</a:t>
            </a:r>
          </a:p>
          <a:p>
            <a:r>
              <a:rPr lang="en-US" sz="1200" dirty="0"/>
              <a:t>      NONPRG       0.43      0.55      0.48        22</a:t>
            </a:r>
          </a:p>
          <a:p>
            <a:r>
              <a:rPr lang="en-US" sz="1200" dirty="0"/>
              <a:t>       JSPRG       0.64      0.53      0.58        34</a:t>
            </a:r>
          </a:p>
          <a:p>
            <a:r>
              <a:rPr lang="en-US" sz="1200" dirty="0"/>
              <a:t>    accuracy                           </a:t>
            </a:r>
            <a:r>
              <a:rPr lang="en-US" sz="1200" b="1" dirty="0"/>
              <a:t>0.54</a:t>
            </a:r>
            <a:r>
              <a:rPr lang="en-US" sz="1200" dirty="0"/>
              <a:t>        56</a:t>
            </a:r>
          </a:p>
          <a:p>
            <a:r>
              <a:rPr lang="en-US" sz="1200" dirty="0"/>
              <a:t>   macro avg       0.54      0.54      0.53        56</a:t>
            </a:r>
          </a:p>
          <a:p>
            <a:r>
              <a:rPr lang="en-US" sz="1200" dirty="0"/>
              <a:t>weighted avg       0.56      0.54      0.54        56</a:t>
            </a:r>
          </a:p>
          <a:p>
            <a:pPr marL="0" indent="0">
              <a:buNone/>
            </a:pPr>
            <a:r>
              <a:rPr lang="en-US" sz="1200" dirty="0"/>
              <a:t>Confusion Matrix:</a:t>
            </a:r>
          </a:p>
          <a:p>
            <a:r>
              <a:rPr lang="en-US" sz="1200" dirty="0"/>
              <a:t> [[12 10]</a:t>
            </a:r>
          </a:p>
          <a:p>
            <a:r>
              <a:rPr lang="en-US" sz="1200" dirty="0"/>
              <a:t> [16 18]]</a:t>
            </a:r>
          </a:p>
          <a:p>
            <a:pPr marL="0" indent="0">
              <a:buNone/>
            </a:pPr>
            <a:r>
              <a:rPr lang="en-US" sz="1400" dirty="0"/>
              <a:t>JSPRG vs NONPRG: N=279 | Positives=171 | Negatives=108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D226E-6E2B-5526-0740-002176B076D8}"/>
              </a:ext>
            </a:extLst>
          </p:cNvPr>
          <p:cNvSpPr txBox="1">
            <a:spLocks/>
          </p:cNvSpPr>
          <p:nvPr/>
        </p:nvSpPr>
        <p:spPr>
          <a:xfrm>
            <a:off x="4556926" y="1214437"/>
            <a:ext cx="3901273" cy="5262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-"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Results for </a:t>
            </a:r>
            <a:r>
              <a:rPr lang="en-US" sz="1200" b="1" dirty="0"/>
              <a:t>PAINONLYPRG vs NONPRG </a:t>
            </a:r>
          </a:p>
          <a:p>
            <a:pPr marL="0" indent="0">
              <a:buNone/>
            </a:pPr>
            <a:r>
              <a:rPr lang="en-US" sz="1200" dirty="0"/>
              <a:t>Accuracy:       0.61</a:t>
            </a:r>
          </a:p>
          <a:p>
            <a:pPr marL="0" indent="0">
              <a:buNone/>
            </a:pPr>
            <a:r>
              <a:rPr lang="en-US" sz="1200" dirty="0"/>
              <a:t>precision    recall  f1-score   support</a:t>
            </a:r>
          </a:p>
          <a:p>
            <a:r>
              <a:rPr lang="en-US" sz="1200" dirty="0"/>
              <a:t>      NONPRG       0.74      0.64      0.68        22</a:t>
            </a:r>
          </a:p>
          <a:p>
            <a:r>
              <a:rPr lang="en-US" sz="1200" dirty="0"/>
              <a:t> PAINONLY       0.47      0.58      0.52        12</a:t>
            </a:r>
          </a:p>
          <a:p>
            <a:r>
              <a:rPr lang="en-US" sz="1200" dirty="0"/>
              <a:t>    accuracy                           </a:t>
            </a:r>
            <a:r>
              <a:rPr lang="en-US" sz="1200" b="1" dirty="0"/>
              <a:t>0.62</a:t>
            </a:r>
            <a:r>
              <a:rPr lang="en-US" sz="1200" dirty="0"/>
              <a:t>        34</a:t>
            </a:r>
          </a:p>
          <a:p>
            <a:r>
              <a:rPr lang="en-US" sz="1200" dirty="0"/>
              <a:t>   macro avg       0.60      0.61      0.60        34</a:t>
            </a:r>
          </a:p>
          <a:p>
            <a:r>
              <a:rPr lang="en-US" sz="1200" dirty="0"/>
              <a:t>weighted avg       0.64      0.62      0.62        34</a:t>
            </a:r>
          </a:p>
          <a:p>
            <a:pPr marL="0" indent="0">
              <a:buNone/>
            </a:pPr>
            <a:r>
              <a:rPr lang="en-US" sz="1200" dirty="0"/>
              <a:t>Confusion Matrix:</a:t>
            </a:r>
          </a:p>
          <a:p>
            <a:r>
              <a:rPr lang="en-US" sz="1200" dirty="0"/>
              <a:t> [[14  8]</a:t>
            </a:r>
          </a:p>
          <a:p>
            <a:r>
              <a:rPr lang="en-US" sz="1200" dirty="0"/>
              <a:t> [ 5  7]]</a:t>
            </a:r>
          </a:p>
          <a:p>
            <a:pPr marL="0" indent="0">
              <a:buNone/>
            </a:pPr>
            <a:r>
              <a:rPr lang="en-US" sz="1400" dirty="0"/>
              <a:t>PAINONLYPRG vs NONPRG: N=170 | Positives=62 | Negatives=108</a:t>
            </a:r>
          </a:p>
          <a:p>
            <a:pPr marL="0" indent="0">
              <a:buNone/>
            </a:pPr>
            <a:endParaRPr lang="en-US" sz="1200" dirty="0"/>
          </a:p>
          <a:p>
            <a:endParaRPr lang="en-US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9C4D1B-F068-8A4B-CB5B-FDAE167AAA42}"/>
              </a:ext>
            </a:extLst>
          </p:cNvPr>
          <p:cNvSpPr txBox="1">
            <a:spLocks/>
          </p:cNvSpPr>
          <p:nvPr/>
        </p:nvSpPr>
        <p:spPr>
          <a:xfrm>
            <a:off x="8366927" y="1214437"/>
            <a:ext cx="3810000" cy="5262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-"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Results for </a:t>
            </a:r>
            <a:r>
              <a:rPr lang="en-US" sz="1200" b="1" dirty="0"/>
              <a:t>JSPAINPRG vs NONPRG </a:t>
            </a:r>
          </a:p>
          <a:p>
            <a:pPr marL="0" indent="0">
              <a:buNone/>
            </a:pPr>
            <a:r>
              <a:rPr lang="en-US" sz="1200" dirty="0"/>
              <a:t>Accuracy:       0.578</a:t>
            </a:r>
          </a:p>
          <a:p>
            <a:r>
              <a:rPr lang="en-US" sz="1200" dirty="0"/>
              <a:t>precision    recall  f1-score   support</a:t>
            </a:r>
          </a:p>
          <a:p>
            <a:r>
              <a:rPr lang="en-US" sz="1200" dirty="0"/>
              <a:t>      NONPRG       0.58      0.50      0.54        22</a:t>
            </a:r>
          </a:p>
          <a:p>
            <a:r>
              <a:rPr lang="en-US" sz="1200" dirty="0"/>
              <a:t>   JSPAIN       0.58      0.65      0.61        23</a:t>
            </a:r>
          </a:p>
          <a:p>
            <a:r>
              <a:rPr lang="en-US" sz="1200" dirty="0"/>
              <a:t>  accuracy                           </a:t>
            </a:r>
            <a:r>
              <a:rPr lang="en-US" sz="1200" b="1" dirty="0"/>
              <a:t>0.58</a:t>
            </a:r>
            <a:r>
              <a:rPr lang="en-US" sz="1200" dirty="0"/>
              <a:t>        45</a:t>
            </a:r>
          </a:p>
          <a:p>
            <a:r>
              <a:rPr lang="en-US" sz="1200" dirty="0"/>
              <a:t>   macro avg       0.58      0.58      0.57        45</a:t>
            </a:r>
          </a:p>
          <a:p>
            <a:r>
              <a:rPr lang="en-US" sz="1200" dirty="0"/>
              <a:t>weighted avg       0.58      0.58      0.58        45</a:t>
            </a:r>
          </a:p>
          <a:p>
            <a:pPr marL="0" indent="0">
              <a:buNone/>
            </a:pPr>
            <a:r>
              <a:rPr lang="en-US" sz="1200" dirty="0"/>
              <a:t>Confusion Matrix:</a:t>
            </a:r>
          </a:p>
          <a:p>
            <a:r>
              <a:rPr lang="en-US" sz="1200" dirty="0"/>
              <a:t> [[11 11]</a:t>
            </a:r>
          </a:p>
          <a:p>
            <a:r>
              <a:rPr lang="en-US" sz="1200" dirty="0"/>
              <a:t> [ 8 15]]</a:t>
            </a:r>
          </a:p>
          <a:p>
            <a:pPr marL="0" indent="0">
              <a:buNone/>
            </a:pPr>
            <a:r>
              <a:rPr lang="en-US" sz="1400" dirty="0"/>
              <a:t>JSPAINPRG vs NONPRG: N=223 | Positives=115 | Negatives=108</a:t>
            </a:r>
          </a:p>
          <a:p>
            <a:pPr marL="0" indent="0">
              <a:buNone/>
            </a:pPr>
            <a:endParaRPr lang="en-US" sz="1200" dirty="0"/>
          </a:p>
          <a:p>
            <a:endParaRPr lang="en-US" sz="12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CB179B-9EA3-9208-A8BD-6E335F6C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"/>
            <a:ext cx="12192000" cy="914400"/>
          </a:xfrm>
        </p:spPr>
        <p:txBody>
          <a:bodyPr/>
          <a:lstStyle/>
          <a:p>
            <a:r>
              <a:rPr lang="en-US" dirty="0"/>
              <a:t>Separate Class</a:t>
            </a:r>
          </a:p>
        </p:txBody>
      </p:sp>
    </p:spTree>
    <p:extLst>
      <p:ext uri="{BB962C8B-B14F-4D97-AF65-F5344CB8AC3E}">
        <p14:creationId xmlns:p14="http://schemas.microsoft.com/office/powerpoint/2010/main" val="1951823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8DC5-2DDE-CB57-D880-C583C7FE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Classes Performance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FA49B7D-AD3E-698A-BDF7-654C84EE9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8200" y="1602857"/>
            <a:ext cx="3429000" cy="3076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374A46-53F5-B8D7-9924-86BF15DF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3" y="1676400"/>
            <a:ext cx="3658206" cy="3040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7D1980-ABC4-7E92-E108-8F06718A5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479" y="1571875"/>
            <a:ext cx="3658206" cy="308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0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0166-3E79-D77D-BB86-ECA1A39C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23A6B5-460C-59C4-55EB-F92D340A8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164310"/>
              </p:ext>
            </p:extLst>
          </p:nvPr>
        </p:nvGraphicFramePr>
        <p:xfrm>
          <a:off x="1466850" y="2133600"/>
          <a:ext cx="92583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21516879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8303345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67489684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41626405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84115299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30304468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76380532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9805132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634354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Setting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Train_N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Val_N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Test_N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Test_Accuracy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Macro_F1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Weighted_F1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Best_Val_Accuracy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Early_Stopping_Epoch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735360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Multimodal (Clinical+Imaging)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0.6667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0.8182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545303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Clinical-only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0.8045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0.8505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4217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204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6033-05D6-C38E-6307-7F400B33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5058-E84C-3BB6-292C-58306A1E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1B7D06-C56E-EF09-EAAC-019BC99A5F08}"/>
              </a:ext>
            </a:extLst>
          </p:cNvPr>
          <p:cNvGraphicFramePr>
            <a:graphicFrameLocks noGrp="1"/>
          </p:cNvGraphicFramePr>
          <p:nvPr/>
        </p:nvGraphicFramePr>
        <p:xfrm>
          <a:off x="1466848" y="4114800"/>
          <a:ext cx="9258301" cy="13696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2177">
                  <a:extLst>
                    <a:ext uri="{9D8B030D-6E8A-4147-A177-3AD203B41FA5}">
                      <a16:colId xmlns:a16="http://schemas.microsoft.com/office/drawing/2014/main" val="3677474342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2418606922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1587940924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1582235677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3649732191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3519559456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3951127483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4032721550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1269006107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1402077648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3855163644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2746283443"/>
                    </a:ext>
                  </a:extLst>
                </a:gridCol>
                <a:gridCol w="712177">
                  <a:extLst>
                    <a:ext uri="{9D8B030D-6E8A-4147-A177-3AD203B41FA5}">
                      <a16:colId xmlns:a16="http://schemas.microsoft.com/office/drawing/2014/main" val="8091595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Setting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Train_N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Val_N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Test_N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Best_Val_Accuracy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Test_Accuracy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Macro_Precision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Macro_Recall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Macro_F1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Weighted_Precision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Weighted_Recall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Weighted_F1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Early_Stopping_Epoch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2826684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Multimodal (Clin.+Img.)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0.4783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0.37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0.39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03806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Clinical-only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0.6916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0.5789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0.58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0.58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2430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82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042D-1CA5-5952-E0AC-BF7ACBEAC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classes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6D3230-EB64-43E2-EE62-5F81BD34F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510823"/>
              </p:ext>
            </p:extLst>
          </p:nvPr>
        </p:nvGraphicFramePr>
        <p:xfrm>
          <a:off x="1778000" y="3025934"/>
          <a:ext cx="8636000" cy="2259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1440741168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902587508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20788706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90632506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43060115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7331345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82424968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85824548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Setting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Task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Positives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Negatives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Test_Accuracy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Balanced_Acc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Test_N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8292620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Multimodal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JSPRG vs NONPRG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16966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Multimodal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PAINONLYPRG vs NONPRG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95155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Multimodal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JSPAINPRG vs NONPRG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0.489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26659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Clinical-only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JSPRG vs NONPRG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7078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Clinical-only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PAINONLYPRG vs NONPRG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62630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Clinical-only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JSPAINPRG vs NONPRG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7616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394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0CC5-25EA-3404-C9E6-8D32DBC4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11/05/2025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752C9-F9E9-DC27-C31A-394B79109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10515600" cy="4622800"/>
          </a:xfrm>
        </p:spPr>
        <p:txBody>
          <a:bodyPr/>
          <a:lstStyle/>
          <a:p>
            <a:r>
              <a:rPr lang="en-US" sz="2400" dirty="0"/>
              <a:t>OAI Data:</a:t>
            </a:r>
          </a:p>
          <a:p>
            <a:r>
              <a:rPr lang="en-US" sz="2400" dirty="0"/>
              <a:t>From </a:t>
            </a:r>
            <a:r>
              <a:rPr lang="en-US" sz="2400" b="1" dirty="0"/>
              <a:t>Clinical</a:t>
            </a:r>
            <a:r>
              <a:rPr lang="en-US" sz="2400" dirty="0"/>
              <a:t>: ID, V00WOMKPR, V00WOMKPL, P01BMI, V00AGE</a:t>
            </a:r>
          </a:p>
          <a:p>
            <a:r>
              <a:rPr lang="en-US" sz="2400" dirty="0"/>
              <a:t>From </a:t>
            </a:r>
            <a:r>
              <a:rPr lang="en-US" sz="2400" b="1" dirty="0" err="1"/>
              <a:t>kxr-qjsw</a:t>
            </a:r>
            <a:r>
              <a:rPr lang="en-US" sz="2400" dirty="0"/>
              <a:t>: ID, SIDE, V00MCMJSW, </a:t>
            </a:r>
          </a:p>
          <a:p>
            <a:r>
              <a:rPr lang="en-US" sz="2400" dirty="0"/>
              <a:t>From </a:t>
            </a:r>
            <a:r>
              <a:rPr lang="en-US" sz="2400" b="1" dirty="0" err="1"/>
              <a:t>kxr</a:t>
            </a:r>
            <a:r>
              <a:rPr lang="en-US" sz="2400" b="1" dirty="0"/>
              <a:t>-sq</a:t>
            </a:r>
            <a:r>
              <a:rPr lang="en-US" sz="2400" dirty="0"/>
              <a:t>: V00XRJSM, V00XRKL, V00XRJSL</a:t>
            </a:r>
          </a:p>
          <a:p>
            <a:r>
              <a:rPr lang="en-US" sz="2400" dirty="0"/>
              <a:t>From </a:t>
            </a:r>
            <a:r>
              <a:rPr lang="en-US" sz="2400" b="1" dirty="0" err="1"/>
              <a:t>Biospec</a:t>
            </a:r>
            <a:r>
              <a:rPr lang="en-US" sz="2400" b="1" dirty="0"/>
              <a:t>-LabCorp</a:t>
            </a:r>
            <a:r>
              <a:rPr lang="en-US" sz="2400" dirty="0"/>
              <a:t>: V00Serum_CTXI_lc, V00Serum_NTXI_lc (bone resorption), </a:t>
            </a:r>
            <a:r>
              <a:rPr lang="en-US" sz="2400" u="sng" dirty="0"/>
              <a:t>V00Urine_CTXII_lc, V00Urine_CTXII_NUM</a:t>
            </a:r>
            <a:r>
              <a:rPr lang="en-US" sz="2400" dirty="0"/>
              <a:t>(cartilage degradation), V00Serum_C2C_lc, V00Serum_C1_2C_lc(collagen), V00Serum_Comp_lc(collagen protein), V00Serum_HA_lc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Next: Extract all other visits V01,V03, V05</a:t>
            </a:r>
          </a:p>
          <a:p>
            <a:r>
              <a:rPr lang="en-US" sz="2400" dirty="0"/>
              <a:t>Map to images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8148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42C5-D0AC-D3A5-ADA9-A2624BCE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990600"/>
          </a:xfrm>
        </p:spPr>
        <p:txBody>
          <a:bodyPr/>
          <a:lstStyle/>
          <a:p>
            <a:r>
              <a:rPr lang="en-US" dirty="0"/>
              <a:t>Update 11/06/2025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AE4FB-BE3E-8129-08C8-E9C6D8DE6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en-US" sz="2400" dirty="0"/>
              <a:t>Review the FNIH regarding  time of progression:</a:t>
            </a:r>
            <a:br>
              <a:rPr lang="en-US" sz="2400" dirty="0"/>
            </a:br>
            <a:r>
              <a:rPr lang="en-US" sz="2400" dirty="0"/>
              <a:t>237/600 </a:t>
            </a:r>
            <a:r>
              <a:rPr lang="en-US" sz="2400" dirty="0" err="1"/>
              <a:t>prg</a:t>
            </a:r>
            <a:r>
              <a:rPr lang="en-US" sz="2400" dirty="0"/>
              <a:t> (BMI&gt;26.3 and +45)</a:t>
            </a:r>
            <a:br>
              <a:rPr lang="en-US" sz="2400" dirty="0"/>
            </a:br>
            <a:r>
              <a:rPr lang="en-US" sz="2400" dirty="0"/>
              <a:t>206 JSL/JSL+ pain prog </a:t>
            </a:r>
            <a:r>
              <a:rPr lang="en-US" sz="2400" dirty="0">
                <a:sym typeface="Wingdings" panose="05000000000000000000" pitchFamily="2" charset="2"/>
              </a:rPr>
              <a:t> 193 MCMJSW03 &lt;4.7 mm</a:t>
            </a:r>
            <a:br>
              <a:rPr lang="en-US" sz="2400" dirty="0">
                <a:sym typeface="Wingdings" panose="05000000000000000000" pitchFamily="2" charset="2"/>
              </a:rPr>
            </a:br>
            <a:r>
              <a:rPr lang="en-US" sz="2400" dirty="0">
                <a:sym typeface="Wingdings" panose="05000000000000000000" pitchFamily="2" charset="2"/>
              </a:rPr>
              <a:t>                                         188 MCMJSW05 &lt;4.7 mm</a:t>
            </a:r>
            <a:br>
              <a:rPr lang="en-US" sz="2400" dirty="0">
                <a:sym typeface="Wingdings" panose="05000000000000000000" pitchFamily="2" charset="2"/>
              </a:rPr>
            </a:br>
            <a:r>
              <a:rPr lang="en-US" sz="2400" dirty="0">
                <a:sym typeface="Wingdings" panose="05000000000000000000" pitchFamily="2" charset="2"/>
              </a:rPr>
              <a:t>                                         178 MCMJSW01 &lt;4.7 mm</a:t>
            </a:r>
            <a:br>
              <a:rPr lang="en-US" sz="2400" dirty="0">
                <a:sym typeface="Wingdings" panose="05000000000000000000" pitchFamily="2" charset="2"/>
              </a:rPr>
            </a:br>
            <a:r>
              <a:rPr lang="en-US" sz="2400" dirty="0">
                <a:sym typeface="Wingdings" panose="05000000000000000000" pitchFamily="2" charset="2"/>
              </a:rPr>
              <a:t>                                         166 MCMJSW00 &lt;4.7 mm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     32 pain only prog  5 Womac &gt; 9 but all MCMJSW &lt;4.2 mm</a:t>
            </a:r>
            <a:br>
              <a:rPr lang="en-US" sz="2400" dirty="0">
                <a:sym typeface="Wingdings" panose="05000000000000000000" pitchFamily="2" charset="2"/>
              </a:rPr>
            </a:br>
            <a:br>
              <a:rPr lang="en-US" sz="2400" dirty="0">
                <a:sym typeface="Wingdings" panose="05000000000000000000" pitchFamily="2" charset="2"/>
              </a:rPr>
            </a:b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223/ 237 in V03(24mo)  MCMJSW &lt;4.6 mm</a:t>
            </a:r>
          </a:p>
        </p:txBody>
      </p:sp>
    </p:spTree>
    <p:extLst>
      <p:ext uri="{BB962C8B-B14F-4D97-AF65-F5344CB8AC3E}">
        <p14:creationId xmlns:p14="http://schemas.microsoft.com/office/powerpoint/2010/main" val="3232012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DB644-BB3B-24FE-9C5D-0676C7059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covariates (predictors): </a:t>
            </a:r>
            <a:r>
              <a:rPr lang="en-US" sz="2400" dirty="0"/>
              <a:t>MCMJSW, age, BMI, sex, pain score</a:t>
            </a:r>
          </a:p>
          <a:p>
            <a:r>
              <a:rPr lang="en-US" sz="2400" b="1" dirty="0"/>
              <a:t>Outcome</a:t>
            </a:r>
            <a:r>
              <a:rPr lang="en-US" sz="2400" dirty="0"/>
              <a:t>: 48-month progression event as defined above; censoring at last observed ≤48 months.</a:t>
            </a:r>
            <a:endParaRPr lang="en-US" sz="2400" b="1" dirty="0"/>
          </a:p>
          <a:p>
            <a:r>
              <a:rPr lang="en-US" sz="2400" b="1" dirty="0"/>
              <a:t>event = 1</a:t>
            </a:r>
            <a:r>
              <a:rPr lang="en-US" sz="2400" dirty="0"/>
              <a:t> → The knee </a:t>
            </a:r>
            <a:r>
              <a:rPr lang="en-US" sz="2400" b="1" dirty="0"/>
              <a:t>progressed</a:t>
            </a:r>
            <a:r>
              <a:rPr lang="en-US" sz="2400" dirty="0"/>
              <a:t> (lost ≥0.7 mm of MCMJSW from baseline) by that time.</a:t>
            </a:r>
          </a:p>
          <a:p>
            <a:r>
              <a:rPr lang="en-US" sz="2400" b="1" dirty="0"/>
              <a:t>event = 0</a:t>
            </a:r>
            <a:r>
              <a:rPr lang="en-US" sz="2400" dirty="0"/>
              <a:t> → The knee </a:t>
            </a:r>
            <a:r>
              <a:rPr lang="en-US" sz="2400" b="1" dirty="0"/>
              <a:t>did NOT progress</a:t>
            </a:r>
            <a:r>
              <a:rPr lang="en-US" sz="2400" dirty="0"/>
              <a:t> by the last available follow-up</a:t>
            </a:r>
          </a:p>
          <a:p>
            <a:r>
              <a:rPr lang="en-US" sz="2400" dirty="0"/>
              <a:t>FNIH </a:t>
            </a:r>
            <a:r>
              <a:rPr lang="en-US" sz="2400" dirty="0">
                <a:sym typeface="Wingdings" panose="05000000000000000000" pitchFamily="2" charset="2"/>
              </a:rPr>
              <a:t> 226 event 1 (43 in 12mo, 102 in 36mo, 81 in 48mo)</a:t>
            </a: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F0F8B-7475-AA04-F24F-11583E93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325563"/>
          </a:xfrm>
        </p:spPr>
        <p:txBody>
          <a:bodyPr/>
          <a:lstStyle/>
          <a:p>
            <a:r>
              <a:rPr lang="en-US" dirty="0"/>
              <a:t>Time to Event </a:t>
            </a:r>
            <a:r>
              <a:rPr lang="en-US" sz="2400" dirty="0"/>
              <a:t>(practice)</a:t>
            </a:r>
          </a:p>
        </p:txBody>
      </p:sp>
    </p:spTree>
    <p:extLst>
      <p:ext uri="{BB962C8B-B14F-4D97-AF65-F5344CB8AC3E}">
        <p14:creationId xmlns:p14="http://schemas.microsoft.com/office/powerpoint/2010/main" val="102945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C1960E-E985-5281-4E24-6F823B39CD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242328"/>
              </p:ext>
            </p:extLst>
          </p:nvPr>
        </p:nvGraphicFramePr>
        <p:xfrm>
          <a:off x="228600" y="1216689"/>
          <a:ext cx="6570900" cy="5424220"/>
        </p:xfrm>
        <a:graphic>
          <a:graphicData uri="http://schemas.openxmlformats.org/drawingml/2006/table">
            <a:tbl>
              <a:tblPr/>
              <a:tblGrid>
                <a:gridCol w="438060">
                  <a:extLst>
                    <a:ext uri="{9D8B030D-6E8A-4147-A177-3AD203B41FA5}">
                      <a16:colId xmlns:a16="http://schemas.microsoft.com/office/drawing/2014/main" val="3499621577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3841070128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3902997075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648996787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1486330375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305234861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171974493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2455918810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3218561239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998975760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4142662926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2567560007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2226670357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2852572714"/>
                    </a:ext>
                  </a:extLst>
                </a:gridCol>
                <a:gridCol w="438060">
                  <a:extLst>
                    <a:ext uri="{9D8B030D-6E8A-4147-A177-3AD203B41FA5}">
                      <a16:colId xmlns:a16="http://schemas.microsoft.com/office/drawing/2014/main" val="2676509776"/>
                    </a:ext>
                  </a:extLst>
                </a:gridCol>
              </a:tblGrid>
              <a:tr h="255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SIDE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P01BMI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V00AGE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P02SEX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P02HISP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P02RACE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V00WOMKP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V00WOMADL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V00XRJSM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V00XRKL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V00XRJSL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V00MCMJSW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427638"/>
                  </a:ext>
                </a:extLst>
              </a:tr>
              <a:tr h="37977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9002116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Left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36.5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Black or African American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3:03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2.886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269493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9002430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27.4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2:02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086715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9003380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1:01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5.917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485217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9006723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Left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34.7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Female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2:02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4.964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925661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9010370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Female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15.86667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2:02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5.064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94614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9014209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Female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3:03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1.896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08951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9016403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Female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12.46667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3:03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2.335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900861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9027422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Left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25.6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3:03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2.102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723480"/>
                  </a:ext>
                </a:extLst>
              </a:tr>
              <a:tr h="50410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9031141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25.8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Male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0: No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White or Caucasian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2:02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5.594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98" marR="7498" marT="74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484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44B213-A534-837C-E8A1-F4893B07D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954156"/>
              </p:ext>
            </p:extLst>
          </p:nvPr>
        </p:nvGraphicFramePr>
        <p:xfrm>
          <a:off x="7254200" y="2590800"/>
          <a:ext cx="4483100" cy="1905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6742767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702889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458261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90948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031810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0740833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30740351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t_start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t_stop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MCMJSW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V00MCMJSW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0866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9002116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Left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7816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9002430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3116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9003380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4.768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2113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9006723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Left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4.964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5909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9010370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417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9014209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5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9016403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8228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9027422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2: Left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6505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9031141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1: Right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98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52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A214-ABFD-7BDF-4ECE-16D2525F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761999"/>
          </a:xfrm>
        </p:spPr>
        <p:txBody>
          <a:bodyPr/>
          <a:lstStyle/>
          <a:p>
            <a:r>
              <a:rPr lang="en-US" sz="4000" dirty="0"/>
              <a:t>12/03/2025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667E-BC65-D386-43CB-CCEEF202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600"/>
            <a:ext cx="4572000" cy="54911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OAI Data:</a:t>
            </a:r>
          </a:p>
          <a:p>
            <a:pPr marL="0" indent="0">
              <a:buNone/>
            </a:pPr>
            <a:r>
              <a:rPr lang="en-US" sz="1200" b="1" dirty="0"/>
              <a:t># XR JSW</a:t>
            </a:r>
          </a:p>
          <a:p>
            <a:r>
              <a:rPr lang="en-US" sz="1200" dirty="0" err="1"/>
              <a:t>xr_jsw_cols</a:t>
            </a:r>
            <a:r>
              <a:rPr lang="en-US" sz="1200" dirty="0"/>
              <a:t> = [</a:t>
            </a:r>
          </a:p>
          <a:p>
            <a:r>
              <a:rPr lang="en-US" sz="1200" dirty="0"/>
              <a:t>    "V00MCMJSW","V00XMJSW","V00JSW150","V00JSW175","V00JSW200","V00JSW225",</a:t>
            </a:r>
          </a:p>
          <a:p>
            <a:r>
              <a:rPr lang="en-US" sz="1200" dirty="0"/>
              <a:t>    "V00JSW250","V00JSW275","V00JSW300",</a:t>
            </a:r>
          </a:p>
          <a:p>
            <a:r>
              <a:rPr lang="en-US" sz="1200" dirty="0"/>
              <a:t>    "V00LJSW700","V00LJSW750","V00LJSW800","V00LJSW850","V00LJSW900",</a:t>
            </a:r>
          </a:p>
          <a:p>
            <a:r>
              <a:rPr lang="en-US" sz="1200" dirty="0"/>
              <a:t>    "V00BMANG"]</a:t>
            </a: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# KL and XR scoring (from kxr_sq_bu00 subset)</a:t>
            </a:r>
          </a:p>
          <a:p>
            <a:r>
              <a:rPr lang="en-US" sz="1200" dirty="0" err="1"/>
              <a:t>kl_cols</a:t>
            </a:r>
            <a:r>
              <a:rPr lang="en-US" sz="1200" dirty="0"/>
              <a:t> = [</a:t>
            </a:r>
          </a:p>
          <a:p>
            <a:r>
              <a:rPr lang="en-US" sz="1200" dirty="0"/>
              <a:t>    "V00XRKL", "V00XROSFM","V00XRSCFM","V00XRCYFM","V00XRJSM",</a:t>
            </a:r>
          </a:p>
          <a:p>
            <a:r>
              <a:rPr lang="en-US" sz="1200" dirty="0"/>
              <a:t>    "V00XROSTM","V00XRSCTM","V00XRCYTM","V00XRATTM",</a:t>
            </a:r>
          </a:p>
          <a:p>
            <a:r>
              <a:rPr lang="en-US" sz="1200" dirty="0"/>
              <a:t>    "V00XROSFL","V00XRSCFL","V00XRCYFL","V00XRJSL",</a:t>
            </a:r>
          </a:p>
          <a:p>
            <a:r>
              <a:rPr lang="en-US" sz="1200" dirty="0"/>
              <a:t>    "V00XROSTL","V00XRSCTL","V00XRCYTL","V00XRATTL"</a:t>
            </a:r>
          </a:p>
          <a:p>
            <a:r>
              <a:rPr lang="en-US" sz="1200" dirty="0"/>
              <a:t>]</a:t>
            </a:r>
            <a:br>
              <a:rPr lang="en-US" sz="1200" dirty="0"/>
            </a:br>
            <a:endParaRPr lang="en-US" sz="1200" dirty="0"/>
          </a:p>
          <a:p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C959B-9F1F-BD9F-A28A-BB85176CF8E3}"/>
              </a:ext>
            </a:extLst>
          </p:cNvPr>
          <p:cNvSpPr txBox="1"/>
          <p:nvPr/>
        </p:nvSpPr>
        <p:spPr>
          <a:xfrm>
            <a:off x="6172200" y="1144675"/>
            <a:ext cx="51816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MRI quantitative </a:t>
            </a:r>
            <a:b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mri_cols</a:t>
            </a:r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"V00WMTCTS","V00BMFMTC","V00WMTCAAB",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"V00WLTCTS","V00BLFMTC","V00WLTCAAB",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"V00WLTMTC","V00WMTMTC"]</a:t>
            </a:r>
            <a:b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Clinical </a:t>
            </a:r>
            <a:b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clinical_cols</a:t>
            </a:r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"V00AGE","P01BMI","P01HEIGHT","P01WEIGHT",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"V00SMKNEV","V00SMOKE","V00SMKNOW","V00SMKPKYR",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"V00DIAB","V00KIDFXN","V00ULCER","V00CANCER",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"V00KOOSFX1","V00KOOSFX2","V00KOOSFX3","V00KOOSFX4","V00KOOSFX5",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"V00KOOSKPL","V00KOOSKPR","V00KOOSQOL",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"V00WOMKPL","V00WOMKPR","V00WOMSTFL","V00WOMSTFR","V00WOMTSL","V00WOMTSR",</a:t>
            </a:r>
          </a:p>
          <a:p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923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AEF9-85A5-8EF7-B4EA-C261ED991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/>
          <a:lstStyle/>
          <a:p>
            <a:r>
              <a:rPr lang="en-US" sz="2400" dirty="0"/>
              <a:t>Progression Definition: Joint space loss 0.7mm</a:t>
            </a:r>
          </a:p>
          <a:p>
            <a:r>
              <a:rPr lang="en-US" sz="2400" dirty="0"/>
              <a:t>Train on </a:t>
            </a:r>
            <a:r>
              <a:rPr lang="en-US" sz="2400" b="1" dirty="0"/>
              <a:t>baseline</a:t>
            </a:r>
          </a:p>
          <a:p>
            <a:r>
              <a:rPr lang="en-US" sz="2400" dirty="0"/>
              <a:t>Target: V05MCMJSW (48 </a:t>
            </a:r>
            <a:r>
              <a:rPr lang="en-US" sz="2400" dirty="0" err="1"/>
              <a:t>mo</a:t>
            </a:r>
            <a:r>
              <a:rPr lang="en-US" sz="2400" dirty="0"/>
              <a:t>)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6245 rows, 178 features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Image:</a:t>
            </a:r>
          </a:p>
          <a:p>
            <a:r>
              <a:rPr lang="en-US" sz="2400" dirty="0"/>
              <a:t>Counts of X-ray vs MRI(DICOM) - baseline:</a:t>
            </a:r>
            <a:br>
              <a:rPr lang="en-US" sz="2400" dirty="0"/>
            </a:br>
            <a:r>
              <a:rPr lang="en-US" sz="2400" dirty="0"/>
              <a:t> X-ray: 5673 </a:t>
            </a:r>
            <a:br>
              <a:rPr lang="en-US" sz="2400" dirty="0"/>
            </a:br>
            <a:r>
              <a:rPr lang="en-US" sz="2400" dirty="0"/>
              <a:t>MRI : 28379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303EA-2C88-B25C-5A9F-0CF06ED63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8575"/>
            <a:ext cx="3219899" cy="2038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C0B48-93D8-7220-9071-E094607DA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097454"/>
            <a:ext cx="4216286" cy="261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1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A828-47F9-9E68-CAF1-587BDED9E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400"/>
            <a:ext cx="10515600" cy="56435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Model:</a:t>
            </a:r>
          </a:p>
          <a:p>
            <a:pPr marL="0" indent="0">
              <a:buNone/>
            </a:pPr>
            <a:r>
              <a:rPr lang="en-US" sz="2400" dirty="0"/>
              <a:t>Baseline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XGBoost</a:t>
            </a:r>
            <a:r>
              <a:rPr lang="en-US" sz="2400" dirty="0">
                <a:sym typeface="Wingdings" panose="05000000000000000000" pitchFamily="2" charset="2"/>
              </a:rPr>
              <a:t>, LR</a:t>
            </a:r>
          </a:p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Current Status: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Handling imbalance class</a:t>
            </a:r>
            <a:br>
              <a:rPr lang="en-US" sz="2400" dirty="0">
                <a:sym typeface="Wingdings" panose="05000000000000000000" pitchFamily="2" charset="2"/>
              </a:rPr>
            </a:br>
            <a:r>
              <a:rPr lang="en-US" sz="2400" dirty="0"/>
              <a:t>0: 5183</a:t>
            </a:r>
          </a:p>
          <a:p>
            <a:pPr marL="0" indent="0">
              <a:buNone/>
            </a:pPr>
            <a:r>
              <a:rPr lang="en-US" sz="2400" dirty="0"/>
              <a:t>1: 1062</a:t>
            </a:r>
          </a:p>
        </p:txBody>
      </p:sp>
    </p:spTree>
    <p:extLst>
      <p:ext uri="{BB962C8B-B14F-4D97-AF65-F5344CB8AC3E}">
        <p14:creationId xmlns:p14="http://schemas.microsoft.com/office/powerpoint/2010/main" val="3047404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0235-0E61-7965-CB0C-BE8656F2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838200"/>
          </a:xfrm>
        </p:spPr>
        <p:txBody>
          <a:bodyPr/>
          <a:lstStyle/>
          <a:p>
            <a:r>
              <a:rPr lang="en-US" dirty="0"/>
              <a:t>01/15/2026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F9678-FAD0-4C45-E440-B78702133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Multi-Agent System (MAS) OA Assistant</a:t>
            </a:r>
          </a:p>
          <a:p>
            <a:pPr marL="0" indent="0">
              <a:buNone/>
            </a:pPr>
            <a:r>
              <a:rPr lang="en-US" sz="1800" dirty="0"/>
              <a:t>Modalities: clinical, radiographic, MR, biomarker</a:t>
            </a:r>
          </a:p>
          <a:p>
            <a:pPr marL="0" indent="0">
              <a:buNone/>
            </a:pPr>
            <a:r>
              <a:rPr lang="en-US" sz="1800" dirty="0"/>
              <a:t>Outcome: 4 yrs progression</a:t>
            </a:r>
          </a:p>
          <a:p>
            <a:pPr marL="0" indent="0">
              <a:buNone/>
            </a:pPr>
            <a:r>
              <a:rPr lang="en-US" sz="1800" dirty="0"/>
              <a:t>Pain model: </a:t>
            </a:r>
            <a:r>
              <a:rPr lang="en-US" sz="1800" dirty="0" err="1"/>
              <a:t>wamac</a:t>
            </a:r>
            <a:r>
              <a:rPr lang="en-US" sz="1800" dirty="0"/>
              <a:t> &amp; </a:t>
            </a:r>
            <a:r>
              <a:rPr lang="en-US" sz="1800" dirty="0" err="1"/>
              <a:t>womADL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Agent tasks:</a:t>
            </a:r>
          </a:p>
          <a:p>
            <a:r>
              <a:rPr lang="en-US" sz="1800" dirty="0"/>
              <a:t>Progression prediction</a:t>
            </a:r>
          </a:p>
          <a:p>
            <a:r>
              <a:rPr lang="en-US" sz="1800" dirty="0"/>
              <a:t>Compute residual for pain</a:t>
            </a:r>
          </a:p>
          <a:p>
            <a:r>
              <a:rPr lang="en-US" sz="1800" dirty="0"/>
              <a:t>Debate on discordance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* Will share the manuscript soon.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E647C4-820C-624B-EA58-371D79724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063712"/>
            <a:ext cx="7236488" cy="426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04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2C0C6-82DE-A050-057A-E24F4DEAC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"/>
            <a:ext cx="10515600" cy="57959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Stage 1 – Primary Consultation</a:t>
            </a:r>
          </a:p>
          <a:p>
            <a:r>
              <a:rPr lang="en-US" sz="1800" dirty="0"/>
              <a:t>Fetch and analyze baseline patient data.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Stage 2 – Follow-Up Consultation (+4 Years)</a:t>
            </a:r>
          </a:p>
          <a:p>
            <a:r>
              <a:rPr lang="en-US" sz="1800" dirty="0"/>
              <a:t>Reclassification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Stage 3 – Therapy Recommendation</a:t>
            </a:r>
          </a:p>
          <a:p>
            <a:r>
              <a:rPr lang="en-US" sz="1800" dirty="0"/>
              <a:t>Generates integrated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463CD-9E4E-DFD3-7C13-8E5E0E8A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038600"/>
            <a:ext cx="7315834" cy="2267909"/>
          </a:xfrm>
          <a:prstGeom prst="rect">
            <a:avLst/>
          </a:prstGeom>
        </p:spPr>
      </p:pic>
      <p:pic>
        <p:nvPicPr>
          <p:cNvPr id="6" name="Picture 5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6977CD80-3333-C6F6-66FF-113B8AFB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367307"/>
            <a:ext cx="4026685" cy="357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42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8367C-D80E-2975-B588-3A94E7F6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0668-7538-B1F9-5146-2D48A68E3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10515600" cy="4622800"/>
          </a:xfrm>
        </p:spPr>
        <p:txBody>
          <a:bodyPr/>
          <a:lstStyle/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305D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Hill, Brandon G., et al. "The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Discordance Between Pain and Imaging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 Knee Osteoarthritis."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JAAOS-Journal of the American Academy of </a:t>
            </a:r>
            <a:r>
              <a:rPr kumimoji="0" lang="en-US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Orthopaedic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Surgeons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33.14 (2025): e786-e794.</a:t>
            </a:r>
          </a:p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305D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Pua, Yong-Hao, et al. "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Discordance between self-reported and performance-based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physical function in patients who have knee osteoarthritis: associations with pain intensity and negative affect."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Journal of arthroplasty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38.9 (2023): 1705-1713.</a:t>
            </a:r>
          </a:p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305D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Finan, Patrick H., et al. "Discordance between pain and radiographic severity in knee osteoarthritis: findings from quantitative sensory testing of central sensitization."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Arthritis &amp; Rheumatism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65.2 (2013): 363-372.</a:t>
            </a:r>
          </a:p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305D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Wu, Qingyun, et al. "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Autogen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Enabling next-gen LLM applications via multi-agent conversations."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First Conference on Language Modeling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2024.</a:t>
            </a:r>
          </a:p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305D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Chen, X., H. Yi, and M. You. "Enhancing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diagnostic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capability with multi-agents conversational large language models. NPJ Digit Med 8: 159." 2025,</a:t>
            </a:r>
          </a:p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305D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Liu,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Weizhi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et al. "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KOM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A Multi-Agent Artificial Intelligence System for Precision Management of Knee Osteoarthritis (KOA)." </a:t>
            </a:r>
            <a:r>
              <a:rPr kumimoji="0" lang="en-US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arXiv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preprint arXiv:2511.19798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7305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(2025).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380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DE53-5C33-AA26-F284-4CF20131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990600"/>
          </a:xfrm>
        </p:spPr>
        <p:txBody>
          <a:bodyPr/>
          <a:lstStyle/>
          <a:p>
            <a:r>
              <a:rPr lang="en-US" dirty="0"/>
              <a:t>Note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219D-01FC-E822-AC9A-B512A1F32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Abstraction task</a:t>
            </a:r>
          </a:p>
          <a:p>
            <a:r>
              <a:rPr lang="en-US" sz="1800" dirty="0"/>
              <a:t>Data: FNIH </a:t>
            </a:r>
          </a:p>
          <a:p>
            <a:r>
              <a:rPr lang="en-US" sz="1800" dirty="0"/>
              <a:t>Convert table to free text</a:t>
            </a:r>
          </a:p>
          <a:p>
            <a:r>
              <a:rPr lang="en-US" sz="1800" dirty="0"/>
              <a:t>Example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</a:p>
          <a:p>
            <a:r>
              <a:rPr lang="en-US" sz="1800" dirty="0">
                <a:hlinkClick r:id="rId2"/>
              </a:rPr>
              <a:t>https://github.com/pegahahadian/Tab2Text</a:t>
            </a:r>
            <a:endParaRPr lang="en-US" sz="1800" dirty="0"/>
          </a:p>
          <a:p>
            <a:r>
              <a:rPr lang="en-US" sz="1800" dirty="0"/>
              <a:t>Test: CC radio report data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C8A466-4C77-B2E2-7C77-D226BF66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18114"/>
            <a:ext cx="7392432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69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07F4-6BAD-8BA4-48FC-55CDCAB5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800100"/>
          </a:xfrm>
        </p:spPr>
        <p:txBody>
          <a:bodyPr/>
          <a:lstStyle/>
          <a:p>
            <a:r>
              <a:rPr lang="en-US" dirty="0"/>
              <a:t>CT - FBP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7CCE43-AE63-A520-E1F7-AE180A53D160}"/>
              </a:ext>
            </a:extLst>
          </p:cNvPr>
          <p:cNvGraphicFramePr>
            <a:graphicFrameLocks noGrp="1"/>
          </p:cNvGraphicFramePr>
          <p:nvPr/>
        </p:nvGraphicFramePr>
        <p:xfrm>
          <a:off x="4477960" y="4363180"/>
          <a:ext cx="3009900" cy="2171700"/>
        </p:xfrm>
        <a:graphic>
          <a:graphicData uri="http://schemas.openxmlformats.org/drawingml/2006/table">
            <a:tbl>
              <a:tblPr/>
              <a:tblGrid>
                <a:gridCol w="752475">
                  <a:extLst>
                    <a:ext uri="{9D8B030D-6E8A-4147-A177-3AD203B41FA5}">
                      <a16:colId xmlns:a16="http://schemas.microsoft.com/office/drawing/2014/main" val="2172312745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137614726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332753662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411398118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Method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0827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0.867677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59664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0.833957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68366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0.968766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59083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0.951483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4623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0.66058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87523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0.611388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37924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0.676053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17502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0.656579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118605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A8FEDD5D-219B-404C-C4AF-4100200C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426531"/>
            <a:ext cx="2836622" cy="8997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D7733E2-B47D-3EB6-01C1-E3ECB9F0A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226107"/>
            <a:ext cx="2836618" cy="8997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D877C8-01B0-FED2-0630-118D96708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2326320"/>
            <a:ext cx="2836618" cy="8997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97433B9-E29D-5D08-9CFB-48582E465FCC}"/>
              </a:ext>
            </a:extLst>
          </p:cNvPr>
          <p:cNvSpPr txBox="1"/>
          <p:nvPr/>
        </p:nvSpPr>
        <p:spPr>
          <a:xfrm>
            <a:off x="2009775" y="1028701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Lesion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525349-A805-F012-7539-92839BF0909B}"/>
              </a:ext>
            </a:extLst>
          </p:cNvPr>
          <p:cNvSpPr txBox="1"/>
          <p:nvPr/>
        </p:nvSpPr>
        <p:spPr>
          <a:xfrm>
            <a:off x="152399" y="172253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6AEE1-1646-7522-B5E4-97B2DB788976}"/>
              </a:ext>
            </a:extLst>
          </p:cNvPr>
          <p:cNvSpPr txBox="1"/>
          <p:nvPr/>
        </p:nvSpPr>
        <p:spPr>
          <a:xfrm>
            <a:off x="152399" y="2622324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919D2-4A1E-13F8-FDED-41D60C066329}"/>
              </a:ext>
            </a:extLst>
          </p:cNvPr>
          <p:cNvSpPr txBox="1"/>
          <p:nvPr/>
        </p:nvSpPr>
        <p:spPr>
          <a:xfrm>
            <a:off x="152400" y="3522111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197D8B5-2063-0331-68D3-52C095CA4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603" y="1408970"/>
            <a:ext cx="2836617" cy="89978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16C1FE9-1D18-404A-317D-83528A0E6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075" y="3226107"/>
            <a:ext cx="2836620" cy="8997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0681FBF-24F4-64F2-B86D-74B920EEBE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602" y="2341318"/>
            <a:ext cx="2836617" cy="89978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846036B-236A-24ED-8D90-687A59FCF514}"/>
              </a:ext>
            </a:extLst>
          </p:cNvPr>
          <p:cNvSpPr txBox="1"/>
          <p:nvPr/>
        </p:nvSpPr>
        <p:spPr>
          <a:xfrm>
            <a:off x="5542818" y="1049943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Lesion 6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5D59A36-9E7D-EF34-4BBD-2D9B66573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4301" y="1408968"/>
            <a:ext cx="2836622" cy="89978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9C7D6FF-AA68-09C0-AF7D-3A16369E02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4779" y="3207893"/>
            <a:ext cx="2836618" cy="89978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0993782-C4B1-81BB-2AAD-49375A9A81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4301" y="2308757"/>
            <a:ext cx="2834563" cy="89913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B38A3B-926C-479B-F424-4EC4564DACA0}"/>
              </a:ext>
            </a:extLst>
          </p:cNvPr>
          <p:cNvSpPr txBox="1"/>
          <p:nvPr/>
        </p:nvSpPr>
        <p:spPr>
          <a:xfrm>
            <a:off x="9075861" y="1101191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Lesion 9</a:t>
            </a:r>
          </a:p>
        </p:txBody>
      </p:sp>
      <p:sp>
        <p:nvSpPr>
          <p:cNvPr id="42" name="Action Button: Help 4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AD7DA3F-2F7E-607D-4DA9-2D06986E2AF0}"/>
              </a:ext>
            </a:extLst>
          </p:cNvPr>
          <p:cNvSpPr/>
          <p:nvPr/>
        </p:nvSpPr>
        <p:spPr>
          <a:xfrm>
            <a:off x="10982324" y="2622324"/>
            <a:ext cx="409575" cy="425430"/>
          </a:xfrm>
          <a:prstGeom prst="actionButtonHelp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27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583E-5E32-48EB-B84E-B66AB50F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0371C-9B69-2663-DBD7-0DC7D7A5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800100"/>
          </a:xfrm>
        </p:spPr>
        <p:txBody>
          <a:bodyPr/>
          <a:lstStyle/>
          <a:p>
            <a:r>
              <a:rPr lang="en-US" dirty="0" err="1"/>
              <a:t>iMAR</a:t>
            </a:r>
            <a:r>
              <a:rPr lang="en-US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D85D76-3D53-98A4-B6FE-C7BF6C52BB96}"/>
              </a:ext>
            </a:extLst>
          </p:cNvPr>
          <p:cNvSpPr txBox="1"/>
          <p:nvPr/>
        </p:nvSpPr>
        <p:spPr>
          <a:xfrm>
            <a:off x="2009775" y="1028701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Lesion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E4506D-C356-6E10-75B3-C41787E5E575}"/>
              </a:ext>
            </a:extLst>
          </p:cNvPr>
          <p:cNvSpPr txBox="1"/>
          <p:nvPr/>
        </p:nvSpPr>
        <p:spPr>
          <a:xfrm>
            <a:off x="152399" y="172253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27CBE3-43FB-8D46-815E-2309D5D4DE68}"/>
              </a:ext>
            </a:extLst>
          </p:cNvPr>
          <p:cNvSpPr txBox="1"/>
          <p:nvPr/>
        </p:nvSpPr>
        <p:spPr>
          <a:xfrm>
            <a:off x="152399" y="2622324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B50E02-4497-47EA-5023-56FA6B490BB4}"/>
              </a:ext>
            </a:extLst>
          </p:cNvPr>
          <p:cNvSpPr txBox="1"/>
          <p:nvPr/>
        </p:nvSpPr>
        <p:spPr>
          <a:xfrm>
            <a:off x="152400" y="3522111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AEFD67-3EAB-3EB8-70C1-69D4CD23CE23}"/>
              </a:ext>
            </a:extLst>
          </p:cNvPr>
          <p:cNvSpPr txBox="1"/>
          <p:nvPr/>
        </p:nvSpPr>
        <p:spPr>
          <a:xfrm>
            <a:off x="5542818" y="1049943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Lesion 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79C97B-BC09-0FFB-447B-4F59EAF0CE65}"/>
              </a:ext>
            </a:extLst>
          </p:cNvPr>
          <p:cNvSpPr txBox="1"/>
          <p:nvPr/>
        </p:nvSpPr>
        <p:spPr>
          <a:xfrm>
            <a:off x="9075861" y="1101191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Lesion 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389850-9FB3-7947-2D19-A90559197B71}"/>
              </a:ext>
            </a:extLst>
          </p:cNvPr>
          <p:cNvGraphicFramePr>
            <a:graphicFrameLocks noGrp="1"/>
          </p:cNvGraphicFramePr>
          <p:nvPr/>
        </p:nvGraphicFramePr>
        <p:xfrm>
          <a:off x="4726236" y="4454953"/>
          <a:ext cx="3086040" cy="2265336"/>
        </p:xfrm>
        <a:graphic>
          <a:graphicData uri="http://schemas.openxmlformats.org/drawingml/2006/table">
            <a:tbl>
              <a:tblPr/>
              <a:tblGrid>
                <a:gridCol w="771510">
                  <a:extLst>
                    <a:ext uri="{9D8B030D-6E8A-4147-A177-3AD203B41FA5}">
                      <a16:colId xmlns:a16="http://schemas.microsoft.com/office/drawing/2014/main" val="3227433784"/>
                    </a:ext>
                  </a:extLst>
                </a:gridCol>
                <a:gridCol w="771510">
                  <a:extLst>
                    <a:ext uri="{9D8B030D-6E8A-4147-A177-3AD203B41FA5}">
                      <a16:colId xmlns:a16="http://schemas.microsoft.com/office/drawing/2014/main" val="596780156"/>
                    </a:ext>
                  </a:extLst>
                </a:gridCol>
                <a:gridCol w="771510">
                  <a:extLst>
                    <a:ext uri="{9D8B030D-6E8A-4147-A177-3AD203B41FA5}">
                      <a16:colId xmlns:a16="http://schemas.microsoft.com/office/drawing/2014/main" val="3314572942"/>
                    </a:ext>
                  </a:extLst>
                </a:gridCol>
                <a:gridCol w="771510">
                  <a:extLst>
                    <a:ext uri="{9D8B030D-6E8A-4147-A177-3AD203B41FA5}">
                      <a16:colId xmlns:a16="http://schemas.microsoft.com/office/drawing/2014/main" val="3688288707"/>
                    </a:ext>
                  </a:extLst>
                </a:gridCol>
              </a:tblGrid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Method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722072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0.963195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604948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0.895436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29268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0.971832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504631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0.930468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747623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0.816664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363004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0.670432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621889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0.780989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99065"/>
                  </a:ext>
                </a:extLst>
              </a:tr>
              <a:tr h="2517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0.717073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64828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8F78AE2-B956-0C58-EDD5-215CEB582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28" y="1409620"/>
            <a:ext cx="2853796" cy="905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C07A8-F177-2904-762D-820FF735C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076" y="3244506"/>
            <a:ext cx="2907731" cy="922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64A1D0-4C17-02AC-6EBA-90FA2E74C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427" y="2325218"/>
            <a:ext cx="2887379" cy="9158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AA5FEE-1631-9811-D4D5-60ED4CA8E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592" y="1379846"/>
            <a:ext cx="2823289" cy="8955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F9FD10-090B-EB14-6CC6-2A755AF9FD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118" y="2303273"/>
            <a:ext cx="2823289" cy="8955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7A52DB-26B5-30B1-1F74-42BFD05F7A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098" y="3271292"/>
            <a:ext cx="2823288" cy="8955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2BF8D4-F09E-4D13-2A3D-C108E273FF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7599" y="1372894"/>
            <a:ext cx="2853798" cy="9052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92B952-6142-ECC6-B478-5959D3367B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7599" y="2219927"/>
            <a:ext cx="2853798" cy="90523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7681EE8-35C0-DB9D-3E30-C954585C66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7599" y="3164647"/>
            <a:ext cx="2853798" cy="90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66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4D5950-6185-E0E2-B417-10EC70705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213" y="435570"/>
            <a:ext cx="3017782" cy="2261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0F9F84-252A-EEDB-F8DB-755C9CC52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128" y="449341"/>
            <a:ext cx="2970826" cy="2261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F3FFEC-906E-5DE2-AD0F-2CF97F016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516" y="2925373"/>
            <a:ext cx="6167224" cy="34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21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6B26-DF7F-B719-178A-603C6D85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914400"/>
          </a:xfrm>
        </p:spPr>
        <p:txBody>
          <a:bodyPr/>
          <a:lstStyle/>
          <a:p>
            <a:r>
              <a:rPr lang="en-US" dirty="0"/>
              <a:t>03/09/2026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AD00D-A8EE-2F5B-21D8-0171691E0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MRI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b="1" dirty="0"/>
              <a:t>post-processed multiplanar reconstruction images, MPRs </a:t>
            </a:r>
            <a:r>
              <a:rPr lang="en-US" sz="1600" b="1" dirty="0">
                <a:sym typeface="Wingdings" panose="05000000000000000000" pitchFamily="2" charset="2"/>
              </a:rPr>
              <a:t> </a:t>
            </a:r>
            <a:r>
              <a:rPr lang="en-US" sz="1600" dirty="0"/>
              <a:t>derived from a DESS acquisition.</a:t>
            </a:r>
          </a:p>
          <a:p>
            <a:pPr marL="0" indent="0">
              <a:buNone/>
            </a:pPr>
            <a:r>
              <a:rPr lang="en-US" sz="1600" dirty="0"/>
              <a:t>evidence is in the DICOM metadata:</a:t>
            </a:r>
          </a:p>
          <a:p>
            <a:r>
              <a:rPr lang="en-US" sz="1600" dirty="0" err="1"/>
              <a:t>SeriesDescription</a:t>
            </a:r>
            <a:r>
              <a:rPr lang="en-US" sz="1600" dirty="0"/>
              <a:t>: AX_MPR_LEFT, COR_MPR_LEFT, COR_MPR_RIGHT</a:t>
            </a:r>
          </a:p>
          <a:p>
            <a:r>
              <a:rPr lang="en-US" sz="1600" dirty="0" err="1"/>
              <a:t>ProtocolName</a:t>
            </a:r>
            <a:r>
              <a:rPr lang="en-US" sz="1600" dirty="0"/>
              <a:t>: SAG 3D DESS WE</a:t>
            </a:r>
          </a:p>
          <a:p>
            <a:pPr marL="0" indent="0">
              <a:buNone/>
            </a:pPr>
            <a:r>
              <a:rPr lang="en-US" sz="1600" dirty="0"/>
              <a:t>They are not directly compatible with segmentation models trained on the original DESS volume.</a:t>
            </a:r>
          </a:p>
          <a:p>
            <a:pPr marL="0" indent="0">
              <a:buNone/>
            </a:pPr>
            <a:r>
              <a:rPr lang="en-US" sz="1600" dirty="0"/>
              <a:t>Solution:</a:t>
            </a:r>
          </a:p>
          <a:p>
            <a:pPr marL="0" indent="0">
              <a:buNone/>
            </a:pPr>
            <a:r>
              <a:rPr lang="en-US" sz="1600" dirty="0"/>
              <a:t>switched to </a:t>
            </a:r>
            <a:r>
              <a:rPr lang="en-US" sz="1600" b="1" dirty="0"/>
              <a:t>representation learning directly on the available MRI images</a:t>
            </a:r>
            <a:r>
              <a:rPr lang="en-US" sz="1600" dirty="0"/>
              <a:t>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- Each MRI volume was converted to </a:t>
            </a:r>
            <a:r>
              <a:rPr lang="en-US" sz="1600" dirty="0" err="1"/>
              <a:t>NIfTI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- Reoriented to a consistent slice-first format, intensity-normalized, center-cropped, and processed using pretrained DenseNet121 encoder </a:t>
            </a:r>
          </a:p>
          <a:p>
            <a:pPr marL="0" indent="0">
              <a:buNone/>
            </a:pPr>
            <a:r>
              <a:rPr lang="en-US" sz="1600" dirty="0"/>
              <a:t>- Slice-level features were then mean-pooled to generate one patient-level MRI embedding for downstream multimodal fusion.</a:t>
            </a:r>
          </a:p>
          <a:p>
            <a:pPr marL="0" indent="0">
              <a:buNone/>
            </a:pPr>
            <a:r>
              <a:rPr lang="en-US" sz="1600"/>
              <a:t> - On </a:t>
            </a:r>
            <a:r>
              <a:rPr lang="en-US" sz="1600" dirty="0"/>
              <a:t>run ~</a:t>
            </a:r>
          </a:p>
        </p:txBody>
      </p:sp>
    </p:spTree>
    <p:extLst>
      <p:ext uri="{BB962C8B-B14F-4D97-AF65-F5344CB8AC3E}">
        <p14:creationId xmlns:p14="http://schemas.microsoft.com/office/powerpoint/2010/main" val="521829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6D96-7901-349C-94F5-326C220A4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04/20/2026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83621-63D3-2EE7-448C-10F65EE47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03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B741-D24B-39FF-50D9-E677B78A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609600"/>
          </a:xfrm>
        </p:spPr>
        <p:txBody>
          <a:bodyPr/>
          <a:lstStyle/>
          <a:p>
            <a:r>
              <a:rPr lang="en-US" dirty="0"/>
              <a:t>Literatures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6678C-BEC4-7446-F2CA-5010AE93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486400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sz="1800" b="1" dirty="0"/>
              <a:t>Kraus et al., 2017 - Predictive validity of biochemical biomarkers</a:t>
            </a:r>
          </a:p>
          <a:p>
            <a:pPr marL="0" indent="0">
              <a:buNone/>
            </a:pPr>
            <a:r>
              <a:rPr lang="en-US" sz="1800" dirty="0"/>
              <a:t>baseline, 12 months, and 24 months were used to predict outcomes over 24-48 months.</a:t>
            </a:r>
          </a:p>
          <a:p>
            <a:pPr marL="0" indent="0">
              <a:buNone/>
            </a:pPr>
            <a:r>
              <a:rPr lang="en-US" sz="1800" dirty="0"/>
              <a:t>18 features serum/urine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Model</a:t>
            </a:r>
            <a:r>
              <a:rPr lang="en-US" sz="1800" dirty="0"/>
              <a:t> used: multivariable regression with hierarchical discriminative analysis, adjusted for age, sex, BMI, race, baseline JSW, KLG, pain, and pain medication use.</a:t>
            </a:r>
          </a:p>
          <a:p>
            <a:pPr marL="0" indent="0">
              <a:buNone/>
            </a:pPr>
            <a:r>
              <a:rPr lang="en-US" sz="1800" b="1" dirty="0"/>
              <a:t>Performance: </a:t>
            </a:r>
            <a:r>
              <a:rPr lang="en-US" sz="1800" b="1" dirty="0">
                <a:solidFill>
                  <a:srgbClr val="FF0000"/>
                </a:solidFill>
              </a:rPr>
              <a:t>AUC: 0.667</a:t>
            </a:r>
          </a:p>
          <a:p>
            <a:pPr marL="0" indent="0">
              <a:buNone/>
            </a:pPr>
            <a:r>
              <a:rPr lang="en-US" sz="1800" b="1" dirty="0"/>
              <a:t>_______________________________________________________________________</a:t>
            </a:r>
          </a:p>
          <a:p>
            <a:pPr marL="0" indent="0">
              <a:buNone/>
            </a:pPr>
            <a:r>
              <a:rPr lang="da-DK" sz="1800" b="1" dirty="0"/>
              <a:t>2) Deng et al., 2023 - MRI cartilage nomograms</a:t>
            </a:r>
          </a:p>
          <a:p>
            <a:pPr marL="0" indent="0">
              <a:buNone/>
            </a:pPr>
            <a:r>
              <a:rPr lang="en-US" sz="1800" dirty="0"/>
              <a:t>Visits used for prediction: baseline, plus changes from baseline to 12 months and baseline to 24 months. They built nomogram0, nomogramΔ12, and nomogramΔ24.</a:t>
            </a:r>
          </a:p>
          <a:p>
            <a:pPr marL="0" indent="0">
              <a:buNone/>
            </a:pPr>
            <a:r>
              <a:rPr lang="en-US" sz="1800" b="1" dirty="0"/>
              <a:t>Features</a:t>
            </a:r>
            <a:r>
              <a:rPr lang="en-US" sz="1800" dirty="0"/>
              <a:t> used: quantitative MRI cartilage morphology parameters - cartilage thickness, cartilage volume, subchondral bone exposure area, cartilage thickness uniformity across knee subregions - plus clinical covariates: KL grade, WOMAC pain, WOMAC disability, minimum JSW.</a:t>
            </a:r>
          </a:p>
          <a:p>
            <a:pPr marL="0" indent="0">
              <a:buNone/>
            </a:pPr>
            <a:r>
              <a:rPr lang="en-US" sz="1800" b="1" dirty="0"/>
              <a:t>Model</a:t>
            </a:r>
            <a:r>
              <a:rPr lang="en-US" sz="1800" dirty="0"/>
              <a:t> used: LASSO for MRI feature selection, then logistic regression to build nomograms.</a:t>
            </a:r>
          </a:p>
          <a:p>
            <a:pPr marL="0" indent="0">
              <a:buNone/>
            </a:pPr>
            <a:r>
              <a:rPr lang="en-US" sz="1800" b="1" dirty="0"/>
              <a:t>Performance</a:t>
            </a:r>
            <a:r>
              <a:rPr lang="en-US" sz="1800" dirty="0"/>
              <a:t>: nomogram0: AUC</a:t>
            </a:r>
            <a:r>
              <a:rPr lang="en-US" sz="1800" b="1" dirty="0"/>
              <a:t> 0.69</a:t>
            </a:r>
            <a:r>
              <a:rPr lang="en-US" sz="1800" dirty="0"/>
              <a:t>, nomogram</a:t>
            </a:r>
            <a:r>
              <a:rPr lang="el-GR" sz="1800" dirty="0"/>
              <a:t>Δ12: </a:t>
            </a:r>
            <a:r>
              <a:rPr lang="en-US" sz="1800" dirty="0"/>
              <a:t>AUC </a:t>
            </a:r>
            <a:r>
              <a:rPr lang="en-US" sz="1800" b="1" dirty="0"/>
              <a:t>0.64</a:t>
            </a:r>
            <a:r>
              <a:rPr lang="en-US" sz="1800" dirty="0"/>
              <a:t>, nomogram</a:t>
            </a:r>
            <a:r>
              <a:rPr lang="el-GR" sz="1800" dirty="0"/>
              <a:t>Δ24: </a:t>
            </a:r>
            <a:r>
              <a:rPr lang="en-US" sz="1800" dirty="0"/>
              <a:t>AUC </a:t>
            </a:r>
            <a:r>
              <a:rPr lang="en-US" sz="1800" b="1" dirty="0"/>
              <a:t>0.71</a:t>
            </a:r>
          </a:p>
        </p:txBody>
      </p:sp>
    </p:spTree>
    <p:extLst>
      <p:ext uri="{BB962C8B-B14F-4D97-AF65-F5344CB8AC3E}">
        <p14:creationId xmlns:p14="http://schemas.microsoft.com/office/powerpoint/2010/main" val="3232860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3C7BD-25DC-979E-774C-B49F157B6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3) Hu et al., 2023 – </a:t>
            </a:r>
            <a:r>
              <a:rPr lang="en-US" sz="1800" b="1" dirty="0" err="1"/>
              <a:t>DeepKOA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Visits </a:t>
            </a:r>
            <a:r>
              <a:rPr lang="en-US" sz="1800" dirty="0"/>
              <a:t>used for prediction: separate models at </a:t>
            </a:r>
            <a:r>
              <a:rPr lang="en-US" sz="1800" b="1" dirty="0"/>
              <a:t>baseline</a:t>
            </a:r>
            <a:r>
              <a:rPr lang="en-US" sz="1800" dirty="0"/>
              <a:t>, </a:t>
            </a:r>
            <a:r>
              <a:rPr lang="en-US" sz="1800" b="1" dirty="0"/>
              <a:t>12 months</a:t>
            </a:r>
            <a:r>
              <a:rPr lang="en-US" sz="1800" dirty="0"/>
              <a:t>, and </a:t>
            </a:r>
            <a:r>
              <a:rPr lang="en-US" sz="1800" b="1" dirty="0"/>
              <a:t>24 months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Features</a:t>
            </a:r>
            <a:r>
              <a:rPr lang="en-US" sz="1800" dirty="0"/>
              <a:t> used: whole-knee 3D MR images, specifically SAG-IW-TSE-FS, SAG-3D-DESS-WE, axial and coronal reformats; they also tested X-ray and clinical-variable models.</a:t>
            </a:r>
          </a:p>
          <a:p>
            <a:pPr marL="0" indent="0">
              <a:buNone/>
            </a:pPr>
            <a:r>
              <a:rPr lang="en-US" sz="1800" b="1" dirty="0"/>
              <a:t>Model</a:t>
            </a:r>
            <a:r>
              <a:rPr lang="en-US" sz="1800" dirty="0"/>
              <a:t> used: 3D </a:t>
            </a:r>
            <a:r>
              <a:rPr lang="en-US" sz="1800" b="1" dirty="0"/>
              <a:t>DenseNet169</a:t>
            </a:r>
            <a:r>
              <a:rPr lang="en-US" sz="1800" dirty="0"/>
              <a:t>; clinical variables were modeled with MLP; integrated </a:t>
            </a:r>
            <a:r>
              <a:rPr lang="en-US" sz="1800" dirty="0" err="1"/>
              <a:t>MRI+clinical</a:t>
            </a:r>
            <a:r>
              <a:rPr lang="en-US" sz="1800" dirty="0"/>
              <a:t> models were also tested.</a:t>
            </a:r>
          </a:p>
          <a:p>
            <a:pPr marL="0" indent="0">
              <a:buNone/>
            </a:pPr>
            <a:r>
              <a:rPr lang="en-US" sz="1800" b="1" dirty="0"/>
              <a:t>Modality</a:t>
            </a:r>
            <a:r>
              <a:rPr lang="en-US" sz="1800" dirty="0"/>
              <a:t>: mainly </a:t>
            </a:r>
            <a:r>
              <a:rPr lang="en-US" sz="1800" b="1" dirty="0"/>
              <a:t>MRI deep learning</a:t>
            </a:r>
            <a:r>
              <a:rPr lang="en-US" sz="1800" dirty="0"/>
              <a:t>; comparison with </a:t>
            </a:r>
            <a:r>
              <a:rPr lang="en-US" sz="1800" b="1" dirty="0"/>
              <a:t>X-ray</a:t>
            </a:r>
            <a:r>
              <a:rPr lang="en-US" sz="1800" dirty="0"/>
              <a:t> and </a:t>
            </a:r>
            <a:r>
              <a:rPr lang="en-US" sz="1800" b="1" dirty="0"/>
              <a:t>clinical</a:t>
            </a:r>
            <a:r>
              <a:rPr lang="en-US" sz="1800" dirty="0"/>
              <a:t>, and an integrated model.</a:t>
            </a:r>
          </a:p>
          <a:p>
            <a:pPr marL="0" indent="0">
              <a:buNone/>
            </a:pPr>
            <a:r>
              <a:rPr lang="en-US" sz="1800" b="1" dirty="0"/>
              <a:t>Performance</a:t>
            </a:r>
            <a:r>
              <a:rPr lang="en-US" sz="1800" dirty="0"/>
              <a:t>: best sequence was </a:t>
            </a:r>
            <a:r>
              <a:rPr lang="en-US" sz="1800" b="1" dirty="0"/>
              <a:t>SAG-IW-TSE-FS</a:t>
            </a:r>
            <a:r>
              <a:rPr lang="en-US" sz="1800" dirty="0"/>
              <a:t>, with AUCs:</a:t>
            </a:r>
          </a:p>
          <a:p>
            <a:pPr marL="0" indent="0">
              <a:buNone/>
            </a:pPr>
            <a:r>
              <a:rPr lang="en-US" sz="1800" dirty="0"/>
              <a:t>       </a:t>
            </a:r>
            <a:r>
              <a:rPr lang="en-US" sz="1800" dirty="0">
                <a:solidFill>
                  <a:srgbClr val="FF0000"/>
                </a:solidFill>
              </a:rPr>
              <a:t> Baseline: 0.664</a:t>
            </a:r>
            <a:r>
              <a:rPr lang="en-US" sz="1800" dirty="0"/>
              <a:t>, 12 months: 0.739, 24 months: 0.775</a:t>
            </a:r>
          </a:p>
          <a:p>
            <a:pPr marL="0" indent="0">
              <a:buNone/>
            </a:pPr>
            <a:r>
              <a:rPr lang="en-US" sz="1800" dirty="0"/>
              <a:t>**X-ray model only reached about </a:t>
            </a:r>
            <a:r>
              <a:rPr lang="en-US" sz="1800" b="1" dirty="0"/>
              <a:t>0.573-0.613</a:t>
            </a:r>
            <a:r>
              <a:rPr lang="en-US" sz="1800" dirty="0"/>
              <a:t>, and adding clinical variables did </a:t>
            </a:r>
            <a:r>
              <a:rPr lang="en-US" sz="1800" b="1" dirty="0"/>
              <a:t>not</a:t>
            </a:r>
            <a:r>
              <a:rPr lang="en-US" sz="1800" dirty="0"/>
              <a:t> improve </a:t>
            </a:r>
            <a:r>
              <a:rPr lang="en-US" sz="1800" dirty="0" err="1"/>
              <a:t>DeepKOA</a:t>
            </a:r>
            <a:r>
              <a:rPr lang="en-US" sz="1800" dirty="0"/>
              <a:t>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3243394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73725-7402-82D4-8FB6-05900430E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64008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</a:rPr>
              <a:t>4) Li et al., 2024 - Predictive models for radiographic and pain progression</a:t>
            </a:r>
          </a:p>
          <a:p>
            <a:pPr marL="0" indent="0">
              <a:buNone/>
            </a:pPr>
            <a:r>
              <a:rPr lang="en-US" sz="1800" dirty="0"/>
              <a:t>Visits used for prediction: </a:t>
            </a:r>
            <a:r>
              <a:rPr lang="en-US" sz="1800" b="1" dirty="0"/>
              <a:t>baseline</a:t>
            </a:r>
            <a:r>
              <a:rPr lang="en-US" sz="1800" dirty="0"/>
              <a:t> predictors</a:t>
            </a:r>
          </a:p>
          <a:p>
            <a:pPr marL="0" indent="0">
              <a:buNone/>
            </a:pPr>
            <a:r>
              <a:rPr lang="en-US" sz="1800" b="1" dirty="0"/>
              <a:t>Features used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Final radiographic model had </a:t>
            </a:r>
            <a:r>
              <a:rPr lang="en-US" sz="1800" b="1" dirty="0"/>
              <a:t>8 variables</a:t>
            </a:r>
            <a:r>
              <a:rPr lang="en-US" sz="1800" dirty="0"/>
              <a:t>; </a:t>
            </a:r>
            <a:br>
              <a:rPr lang="en-US" sz="1800" dirty="0"/>
            </a:br>
            <a:r>
              <a:rPr lang="en-US" sz="1800" dirty="0"/>
              <a:t>pain model had </a:t>
            </a:r>
            <a:r>
              <a:rPr lang="en-US" sz="1800" b="1" dirty="0"/>
              <a:t>10 variables</a:t>
            </a:r>
            <a:r>
              <a:rPr lang="en-US" sz="1800" dirty="0"/>
              <a:t>. </a:t>
            </a:r>
            <a:br>
              <a:rPr lang="en-US" sz="1800" dirty="0"/>
            </a:br>
            <a:r>
              <a:rPr lang="en-US" sz="1800" dirty="0"/>
              <a:t>Selected predictors included meniscal extrusion, meniscal volume, osteophytes, denuded cartilage area, BMLs, WOMAC pain, NSAID use, non-target knee X-ray OA findings, and pain-history variables.</a:t>
            </a:r>
          </a:p>
          <a:p>
            <a:pPr marL="0" indent="0">
              <a:buNone/>
            </a:pPr>
            <a:r>
              <a:rPr lang="en-US" sz="1800" b="1" dirty="0"/>
              <a:t>Model</a:t>
            </a:r>
            <a:r>
              <a:rPr lang="en-US" sz="1800" dirty="0"/>
              <a:t> used: multivariate </a:t>
            </a:r>
            <a:r>
              <a:rPr lang="en-US" sz="1800" b="1" dirty="0"/>
              <a:t>logistic regression</a:t>
            </a:r>
            <a:r>
              <a:rPr lang="en-US" sz="1800" dirty="0"/>
              <a:t>, visualized as nomograms, with 10-fold cross-validation.</a:t>
            </a:r>
          </a:p>
          <a:p>
            <a:pPr marL="0" indent="0">
              <a:buNone/>
            </a:pPr>
            <a:r>
              <a:rPr lang="en-US" sz="1800" b="1" dirty="0"/>
              <a:t>Performance</a:t>
            </a:r>
            <a:r>
              <a:rPr lang="en-US" sz="1800" dirty="0"/>
              <a:t>: Radiographic model: </a:t>
            </a:r>
            <a:r>
              <a:rPr lang="en-US" sz="1800" b="1" dirty="0"/>
              <a:t>AUC 0.77</a:t>
            </a:r>
          </a:p>
          <a:p>
            <a:pPr marL="0" indent="0">
              <a:buNone/>
            </a:pPr>
            <a:r>
              <a:rPr lang="en-US" sz="1800" dirty="0"/>
              <a:t>Pain model: </a:t>
            </a:r>
            <a:r>
              <a:rPr lang="en-US" sz="1800" b="1" dirty="0"/>
              <a:t>AUC 0.76</a:t>
            </a:r>
          </a:p>
          <a:p>
            <a:pPr marL="0" indent="0">
              <a:buNone/>
            </a:pPr>
            <a:r>
              <a:rPr lang="en-US" sz="1800" b="1" dirty="0"/>
              <a:t>______________________________________________________________________</a:t>
            </a:r>
          </a:p>
          <a:p>
            <a:pPr marL="0" indent="0">
              <a:buNone/>
            </a:pPr>
            <a:r>
              <a:rPr lang="en-US" sz="1800" b="1" dirty="0"/>
              <a:t>5) Hunter et al., 2023 - Skeletal Radiology review on PROGRESS OA</a:t>
            </a:r>
          </a:p>
          <a:p>
            <a:pPr marL="0" indent="0">
              <a:buNone/>
            </a:pPr>
            <a:r>
              <a:rPr lang="en-US" sz="1800" dirty="0"/>
              <a:t>Used baseline and </a:t>
            </a:r>
            <a:r>
              <a:rPr lang="en-US" sz="1800" b="1" dirty="0"/>
              <a:t>24-month change</a:t>
            </a:r>
            <a:r>
              <a:rPr lang="en-US" sz="1800" dirty="0"/>
              <a:t> predicting </a:t>
            </a:r>
            <a:r>
              <a:rPr lang="en-US" sz="1800" b="1" dirty="0"/>
              <a:t>48-month</a:t>
            </a:r>
            <a:r>
              <a:rPr lang="en-US" sz="1800" dirty="0"/>
              <a:t> outcomes.</a:t>
            </a:r>
          </a:p>
          <a:p>
            <a:pPr marL="0" indent="0">
              <a:buNone/>
            </a:pPr>
            <a:r>
              <a:rPr lang="en-US" sz="1800" b="1" dirty="0"/>
              <a:t>Features used</a:t>
            </a:r>
            <a:r>
              <a:rPr lang="en-US" sz="1800" dirty="0"/>
              <a:t>: MRI biomarkers (quantitative cartilage thickness/volume, SQ MRI markers, bone shape, meniscal volume), radiographic TBT, and serum/urine biochemical markers.</a:t>
            </a:r>
          </a:p>
          <a:p>
            <a:pPr marL="0" indent="0">
              <a:buNone/>
            </a:pPr>
            <a:r>
              <a:rPr lang="en-US" sz="1800" b="1" dirty="0"/>
              <a:t>Model used</a:t>
            </a:r>
            <a:r>
              <a:rPr lang="en-US" sz="1800" dirty="0"/>
              <a:t>: multivariable</a:t>
            </a:r>
            <a:r>
              <a:rPr lang="en-US" sz="1800" b="1" dirty="0"/>
              <a:t> logistic regression</a:t>
            </a:r>
          </a:p>
          <a:p>
            <a:pPr marL="0" indent="0">
              <a:buNone/>
            </a:pPr>
            <a:r>
              <a:rPr lang="en-US" sz="1800" b="1" dirty="0"/>
              <a:t>Modality</a:t>
            </a:r>
            <a:r>
              <a:rPr lang="en-US" sz="1800" dirty="0"/>
              <a:t>: review of </a:t>
            </a:r>
            <a:r>
              <a:rPr lang="en-US" sz="1800" b="1" dirty="0"/>
              <a:t>MRI + radiographic + biochemical</a:t>
            </a:r>
            <a:r>
              <a:rPr lang="en-US" sz="1800" dirty="0"/>
              <a:t> biomarkers.</a:t>
            </a:r>
          </a:p>
          <a:p>
            <a:pPr marL="0" indent="0">
              <a:buNone/>
            </a:pPr>
            <a:r>
              <a:rPr lang="en-US" sz="1800" b="1" dirty="0"/>
              <a:t>Performance</a:t>
            </a:r>
            <a:r>
              <a:rPr lang="en-US" sz="1800" dirty="0"/>
              <a:t>: baseline for </a:t>
            </a:r>
            <a:r>
              <a:rPr lang="en-US" sz="1800" dirty="0" err="1"/>
              <a:t>pain+radiographic</a:t>
            </a:r>
            <a:r>
              <a:rPr lang="en-US" sz="1800" dirty="0"/>
              <a:t> progression: </a:t>
            </a:r>
            <a:r>
              <a:rPr lang="en-US" sz="1800" b="1" dirty="0">
                <a:solidFill>
                  <a:srgbClr val="FF0000"/>
                </a:solidFill>
              </a:rPr>
              <a:t>0.641-0.671</a:t>
            </a:r>
          </a:p>
          <a:p>
            <a:pPr marL="0" indent="0">
              <a:buNone/>
            </a:pPr>
            <a:r>
              <a:rPr lang="en-US" sz="1800" dirty="0"/>
              <a:t>24-month change models: 0.680-0.724</a:t>
            </a:r>
          </a:p>
        </p:txBody>
      </p:sp>
    </p:spTree>
    <p:extLst>
      <p:ext uri="{BB962C8B-B14F-4D97-AF65-F5344CB8AC3E}">
        <p14:creationId xmlns:p14="http://schemas.microsoft.com/office/powerpoint/2010/main" val="4208056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B1489-758D-7923-FA70-726F9375D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1722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6) Collins et al., 2025 - MRI biomarkers of knee OA progression (PROGRESS OA </a:t>
            </a:r>
            <a:r>
              <a:rPr lang="en-US" sz="1800" dirty="0"/>
              <a:t>RCT placebo arms</a:t>
            </a:r>
            <a:r>
              <a:rPr lang="en-US" sz="1800" b="1" dirty="0"/>
              <a:t>)</a:t>
            </a:r>
          </a:p>
          <a:p>
            <a:pPr marL="0" indent="0">
              <a:buNone/>
            </a:pPr>
            <a:r>
              <a:rPr lang="en-US" sz="1800" dirty="0"/>
              <a:t>baseline MRI biomarkers predicted outcomes over 12-36 months.</a:t>
            </a:r>
          </a:p>
          <a:p>
            <a:pPr marL="0" indent="0">
              <a:buNone/>
            </a:pPr>
            <a:r>
              <a:rPr lang="en-US" sz="1800" b="1" dirty="0"/>
              <a:t>Outcome</a:t>
            </a:r>
            <a:r>
              <a:rPr lang="en-US" sz="1800" dirty="0"/>
              <a:t>: primary outcome was </a:t>
            </a:r>
            <a:r>
              <a:rPr lang="en-US" sz="1800" b="1" dirty="0"/>
              <a:t>JSWL ≥0.7 mm</a:t>
            </a:r>
            <a:r>
              <a:rPr lang="en-US" sz="1800" dirty="0"/>
              <a:t>; secondary outcomes included </a:t>
            </a:r>
            <a:r>
              <a:rPr lang="en-US" sz="1800" b="1" dirty="0"/>
              <a:t>pain progression</a:t>
            </a:r>
          </a:p>
          <a:p>
            <a:pPr marL="0" indent="0">
              <a:buNone/>
            </a:pPr>
            <a:r>
              <a:rPr lang="en-US" sz="1800" b="1" dirty="0"/>
              <a:t>Features </a:t>
            </a:r>
            <a:r>
              <a:rPr lang="en-US" sz="1800" dirty="0"/>
              <a:t>used: baseline </a:t>
            </a:r>
            <a:r>
              <a:rPr lang="en-US" sz="1800" b="1" dirty="0">
                <a:highlight>
                  <a:srgbClr val="00FFFF"/>
                </a:highlight>
              </a:rPr>
              <a:t>quantitative cartilage morphology</a:t>
            </a:r>
            <a:r>
              <a:rPr lang="en-US" sz="1800" dirty="0">
                <a:highlight>
                  <a:srgbClr val="00FFFF"/>
                </a:highlight>
              </a:rPr>
              <a:t> and </a:t>
            </a:r>
            <a:r>
              <a:rPr lang="en-US" sz="1800" b="1" dirty="0">
                <a:highlight>
                  <a:srgbClr val="00FFFF"/>
                </a:highlight>
              </a:rPr>
              <a:t>MOAKS-type SQ MRI features</a:t>
            </a:r>
            <a:r>
              <a:rPr lang="en-US" sz="1800" dirty="0">
                <a:highlight>
                  <a:srgbClr val="00FFFF"/>
                </a:highlight>
              </a:rPr>
              <a:t> </a:t>
            </a:r>
            <a:r>
              <a:rPr lang="en-US" sz="1800" dirty="0"/>
              <a:t>- cartilage surface area extent, full-thickness loss, osteophytes, BMLs, meniscal morphology/extrusion, Hoffa-synovitis, effusion-synovitis.</a:t>
            </a:r>
          </a:p>
          <a:p>
            <a:pPr marL="0" indent="0">
              <a:buNone/>
            </a:pPr>
            <a:r>
              <a:rPr lang="en-US" sz="1800" b="1" dirty="0"/>
              <a:t>Model </a:t>
            </a:r>
            <a:r>
              <a:rPr lang="en-US" sz="1800" dirty="0"/>
              <a:t>used: </a:t>
            </a:r>
            <a:r>
              <a:rPr lang="en-US" sz="1800" b="1" dirty="0"/>
              <a:t>logistic regression</a:t>
            </a:r>
          </a:p>
          <a:p>
            <a:pPr marL="0" indent="0">
              <a:buNone/>
            </a:pPr>
            <a:r>
              <a:rPr lang="en-US" sz="1800" b="1" dirty="0"/>
              <a:t>Performance: </a:t>
            </a:r>
            <a:r>
              <a:rPr lang="en-US" sz="1800" dirty="0"/>
              <a:t>JSWL ≥0.7 mm: </a:t>
            </a:r>
            <a:r>
              <a:rPr lang="en-US" sz="1800" b="1" dirty="0">
                <a:solidFill>
                  <a:srgbClr val="FF0000"/>
                </a:solidFill>
              </a:rPr>
              <a:t>AUC 0.69</a:t>
            </a:r>
            <a:r>
              <a:rPr lang="en-US" sz="1800" b="1" dirty="0"/>
              <a:t>, </a:t>
            </a:r>
            <a:r>
              <a:rPr lang="en-US" sz="1800" dirty="0">
                <a:highlight>
                  <a:srgbClr val="FFFF00"/>
                </a:highlight>
              </a:rPr>
              <a:t>Pain progression: </a:t>
            </a:r>
            <a:r>
              <a:rPr lang="en-US" sz="1800" b="1" dirty="0">
                <a:highlight>
                  <a:srgbClr val="FFFF00"/>
                </a:highlight>
              </a:rPr>
              <a:t>AUC 0.77</a:t>
            </a:r>
          </a:p>
          <a:p>
            <a:pPr marL="0" indent="0">
              <a:buNone/>
            </a:pPr>
            <a:r>
              <a:rPr lang="en-US" sz="1800" b="1" dirty="0"/>
              <a:t>________________________________________________________________________</a:t>
            </a:r>
          </a:p>
          <a:p>
            <a:pPr marL="0" indent="0">
              <a:buNone/>
            </a:pPr>
            <a:r>
              <a:rPr lang="en-US" sz="1800" b="1" dirty="0"/>
              <a:t>7) Collins et al., 2025 - Biochemical biomarkers of knee OA progression (PROGRESS OA)</a:t>
            </a:r>
          </a:p>
          <a:p>
            <a:pPr marL="0" indent="0">
              <a:buNone/>
            </a:pPr>
            <a:r>
              <a:rPr lang="en-US" sz="1800" b="1" dirty="0"/>
              <a:t>Visits</a:t>
            </a:r>
            <a:r>
              <a:rPr lang="en-US" sz="1800" dirty="0"/>
              <a:t> used for prediction: baseline biochemical biomarkers predicting outcomes over 12-36 months</a:t>
            </a:r>
          </a:p>
          <a:p>
            <a:pPr marL="0" indent="0">
              <a:buNone/>
            </a:pPr>
            <a:r>
              <a:rPr lang="en-US" sz="1800" b="1" dirty="0"/>
              <a:t>Outcome</a:t>
            </a:r>
            <a:r>
              <a:rPr lang="en-US" sz="1800" dirty="0"/>
              <a:t>: outcome was </a:t>
            </a:r>
            <a:r>
              <a:rPr lang="en-US" sz="1800" b="1" dirty="0"/>
              <a:t>medial or lateral JSWL ≥0.7 mm</a:t>
            </a:r>
          </a:p>
          <a:p>
            <a:pPr marL="0" indent="0">
              <a:buNone/>
            </a:pPr>
            <a:r>
              <a:rPr lang="en-US" sz="1800" b="1" dirty="0"/>
              <a:t>Features </a:t>
            </a:r>
            <a:r>
              <a:rPr lang="en-US" sz="1800" dirty="0"/>
              <a:t>used: </a:t>
            </a:r>
            <a:r>
              <a:rPr lang="en-US" sz="1800" b="1" dirty="0"/>
              <a:t>9 biochemical biomarkers</a:t>
            </a:r>
            <a:r>
              <a:rPr lang="en-US" sz="1800" dirty="0"/>
              <a:t>, including serum HA, </a:t>
            </a:r>
            <a:r>
              <a:rPr lang="en-US" sz="1800" dirty="0" err="1"/>
              <a:t>sNTX</a:t>
            </a:r>
            <a:r>
              <a:rPr lang="en-US" sz="1800" dirty="0"/>
              <a:t>-I, </a:t>
            </a:r>
            <a:r>
              <a:rPr lang="en-US" sz="1800" dirty="0" err="1"/>
              <a:t>sCTX</a:t>
            </a:r>
            <a:r>
              <a:rPr lang="en-US" sz="1800" dirty="0"/>
              <a:t>-I, </a:t>
            </a:r>
            <a:r>
              <a:rPr lang="en-US" sz="1800" dirty="0" err="1"/>
              <a:t>sPIIBNP</a:t>
            </a:r>
            <a:r>
              <a:rPr lang="en-US" sz="1800" dirty="0"/>
              <a:t>, urinary C2C-HUSA, CTXII, NTXI, CTXI</a:t>
            </a:r>
            <a:r>
              <a:rPr lang="el-GR" sz="1800" dirty="0"/>
              <a:t>α, </a:t>
            </a:r>
            <a:r>
              <a:rPr lang="en-US" sz="1800" dirty="0"/>
              <a:t>CTXI</a:t>
            </a:r>
            <a:r>
              <a:rPr lang="el-GR" sz="1800" dirty="0"/>
              <a:t>β, </a:t>
            </a:r>
            <a:r>
              <a:rPr lang="en-US" sz="1800" dirty="0"/>
              <a:t>modeled with covariates such as BMI and KLG.</a:t>
            </a:r>
          </a:p>
          <a:p>
            <a:pPr marL="0" indent="0">
              <a:buNone/>
            </a:pPr>
            <a:r>
              <a:rPr lang="en-US" sz="1800" b="1" dirty="0"/>
              <a:t>Model </a:t>
            </a:r>
            <a:r>
              <a:rPr lang="en-US" sz="1800" dirty="0"/>
              <a:t>used: </a:t>
            </a:r>
            <a:r>
              <a:rPr lang="en-US" sz="1800" b="1" dirty="0"/>
              <a:t>logistic regression</a:t>
            </a:r>
          </a:p>
          <a:p>
            <a:pPr marL="0" indent="0">
              <a:buNone/>
            </a:pPr>
            <a:r>
              <a:rPr lang="en-US" sz="1800" b="1" dirty="0"/>
              <a:t>Performance</a:t>
            </a:r>
            <a:r>
              <a:rPr lang="en-US" sz="1800" dirty="0"/>
              <a:t>: serum HA + urinary C2C-HUSA + BMI + KLG, with </a:t>
            </a:r>
            <a:r>
              <a:rPr lang="en-US" sz="1800" b="1" dirty="0">
                <a:solidFill>
                  <a:srgbClr val="FF0000"/>
                </a:solidFill>
              </a:rPr>
              <a:t>AUC 0.627</a:t>
            </a:r>
            <a:br>
              <a:rPr lang="en-US" sz="1800" b="1" dirty="0"/>
            </a:br>
            <a:r>
              <a:rPr lang="en-US" sz="1800" dirty="0"/>
              <a:t>Biomarker-only HA+C2C-HUSA reached </a:t>
            </a:r>
            <a:r>
              <a:rPr lang="en-US" sz="1800" b="1" dirty="0">
                <a:solidFill>
                  <a:srgbClr val="FF0000"/>
                </a:solidFill>
              </a:rPr>
              <a:t>AUC 0.581</a:t>
            </a:r>
            <a:r>
              <a:rPr lang="en-US" sz="1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7130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5D01-C14C-7FCD-194F-AE49ECEC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838200"/>
          </a:xfrm>
        </p:spPr>
        <p:txBody>
          <a:bodyPr/>
          <a:lstStyle/>
          <a:p>
            <a:r>
              <a:rPr lang="en-US" dirty="0"/>
              <a:t>Update Tabular with MOAKS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886141-7B17-0851-A6A2-CE323F73A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080199"/>
            <a:ext cx="6105525" cy="1685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34E0C-764B-9312-6E3A-51BB223CD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745" y="1050209"/>
            <a:ext cx="4168873" cy="4757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064BC1-A456-1BA9-180E-F91F55C437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971800"/>
            <a:ext cx="7040891" cy="348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89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B833-2FEA-0C95-0A26-17DD72A8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1"/>
            <a:ext cx="12192000" cy="762000"/>
          </a:xfrm>
        </p:spPr>
        <p:txBody>
          <a:bodyPr/>
          <a:lstStyle/>
          <a:p>
            <a:r>
              <a:rPr lang="en-US" dirty="0"/>
              <a:t>DL- MO 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52271-D7F0-8899-A275-697866959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0"/>
                <a:ext cx="10515600" cy="5410199"/>
              </a:xfrm>
            </p:spPr>
            <p:txBody>
              <a:bodyPr/>
              <a:lstStyle/>
              <a:p>
                <a:r>
                  <a:rPr lang="en-US" sz="1800" dirty="0"/>
                  <a:t>Train on </a:t>
                </a:r>
                <a:r>
                  <a:rPr lang="en-US" sz="1800" dirty="0" err="1"/>
                  <a:t>iMAR</a:t>
                </a:r>
                <a:r>
                  <a:rPr lang="en-US" sz="1800" dirty="0"/>
                  <a:t>-Full, test on FBP-Full/Half</a:t>
                </a:r>
              </a:p>
              <a:p>
                <a:r>
                  <a:rPr lang="en-US" sz="1800" dirty="0"/>
                  <a:t>output: For each slice, the network outputs one number z</a:t>
                </a:r>
                <a:br>
                  <a:rPr lang="en-US" sz="1800" dirty="0"/>
                </a:br>
                <a:r>
                  <a:rPr lang="en-US" sz="1800" dirty="0"/>
                  <a:t>large positive z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−→</m:t>
                    </m:r>
                  </m:oMath>
                </a14:m>
                <a:r>
                  <a:rPr lang="en-US" sz="1800" dirty="0"/>
                  <a:t> predicts more likely SP</a:t>
                </a:r>
                <a:br>
                  <a:rPr lang="en-US" sz="1800" dirty="0"/>
                </a:br>
                <a:r>
                  <a:rPr lang="en-US" sz="1800" dirty="0"/>
                  <a:t>large negative z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−→ </m:t>
                    </m:r>
                  </m:oMath>
                </a14:m>
                <a:r>
                  <a:rPr lang="en-US" sz="1800" dirty="0"/>
                  <a:t>predicts more likely SA</a:t>
                </a:r>
                <a:br>
                  <a:rPr lang="en-US" sz="1800" dirty="0"/>
                </a:br>
                <a:r>
                  <a:rPr lang="en-US" sz="1800" dirty="0"/>
                  <a:t>near zero </a:t>
                </a:r>
                <a:r>
                  <a:rPr lang="en-US" sz="1800" dirty="0">
                    <a:sym typeface="Wingdings" panose="05000000000000000000" pitchFamily="2" charset="2"/>
                  </a:rPr>
                  <a:t></a:t>
                </a:r>
                <a:r>
                  <a:rPr lang="en-US" sz="1800" dirty="0"/>
                  <a:t> ambiguous</a:t>
                </a:r>
              </a:p>
              <a:p>
                <a:r>
                  <a:rPr lang="en-US" sz="1800" dirty="0"/>
                  <a:t>To match with human observe which is </a:t>
                </a:r>
                <a:r>
                  <a:rPr lang="en-US" sz="1800" dirty="0" err="1"/>
                  <a:t>Lesion×Method×Dose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1) For each slice 1 logit, inside each group, 2 scores, if the network is good SP should be higher than SA</a:t>
                </a:r>
              </a:p>
              <a:p>
                <a:pPr marL="0" indent="0">
                  <a:buNone/>
                </a:pPr>
                <a:r>
                  <a:rPr lang="en-US" sz="1800" dirty="0"/>
                  <a:t>2) d′ is computed from the separation of SA/SP score distributions from group</a:t>
                </a:r>
              </a:p>
              <a:p>
                <a:pPr marL="0" indent="0">
                  <a:buNone/>
                </a:pPr>
                <a:r>
                  <a:rPr lang="en-US" sz="1800" dirty="0"/>
                  <a:t>1 and 2 </a:t>
                </a:r>
                <a:r>
                  <a:rPr lang="en-US" sz="1800" dirty="0">
                    <a:sym typeface="Wingdings" panose="05000000000000000000" pitchFamily="2" charset="2"/>
                  </a:rPr>
                  <a:t> </a:t>
                </a:r>
                <a:r>
                  <a:rPr lang="en-US" sz="1800" dirty="0"/>
                  <a:t>if SP and SA scores strongly separate -&gt; </a:t>
                </a:r>
                <a:r>
                  <a:rPr lang="en-US" sz="1800" b="1" dirty="0"/>
                  <a:t>high d′ </a:t>
                </a:r>
                <a:br>
                  <a:rPr lang="en-US" sz="1800" b="1" dirty="0"/>
                </a:br>
                <a:r>
                  <a:rPr lang="en-US" sz="1800" dirty="0"/>
                  <a:t>if they overlap a lot -&gt; </a:t>
                </a:r>
                <a:r>
                  <a:rPr lang="en-US" sz="1800" b="1" dirty="0"/>
                  <a:t>low d′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d’ = (mean(</a:t>
                </a:r>
                <a:r>
                  <a:rPr lang="en-US" sz="1800" dirty="0" err="1"/>
                  <a:t>pos_scores</a:t>
                </a:r>
                <a:r>
                  <a:rPr lang="en-US" sz="1800" dirty="0"/>
                  <a:t>) - mean(</a:t>
                </a:r>
                <a:r>
                  <a:rPr lang="en-US" sz="1800" dirty="0" err="1"/>
                  <a:t>neg_scores</a:t>
                </a:r>
                <a:r>
                  <a:rPr lang="en-US" sz="1800" dirty="0"/>
                  <a:t>)) / </a:t>
                </a:r>
                <a:r>
                  <a:rPr lang="en-US" sz="1800" dirty="0" err="1"/>
                  <a:t>pooled_std</a:t>
                </a:r>
                <a:r>
                  <a:rPr lang="en-US" sz="1800" dirty="0"/>
                  <a:t>(</a:t>
                </a:r>
                <a:r>
                  <a:rPr lang="en-US" sz="1800" dirty="0" err="1"/>
                  <a:t>pos_scores</a:t>
                </a:r>
                <a:r>
                  <a:rPr lang="en-US" sz="1800" dirty="0"/>
                  <a:t>, </a:t>
                </a:r>
                <a:r>
                  <a:rPr lang="en-US" sz="1800" dirty="0" err="1"/>
                  <a:t>neg_scores</a:t>
                </a:r>
                <a:r>
                  <a:rPr lang="en-US" sz="1800" dirty="0"/>
                  <a:t>)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sz="1800" dirty="0"/>
                  <a:t>positive scores: logits from SP slices</a:t>
                </a:r>
              </a:p>
              <a:p>
                <a:pPr marL="0" indent="0">
                  <a:buNone/>
                </a:pPr>
                <a:r>
                  <a:rPr lang="en-US" sz="1800" dirty="0"/>
                  <a:t>negative scores: logits from SA slices</a:t>
                </a:r>
              </a:p>
              <a:p>
                <a:pPr marL="0" indent="0">
                  <a:buNone/>
                </a:pPr>
                <a:r>
                  <a:rPr lang="en-US" sz="1800" dirty="0"/>
                  <a:t>** Then convert to probability …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52271-D7F0-8899-A275-697866959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0"/>
                <a:ext cx="10515600" cy="5410199"/>
              </a:xfrm>
              <a:blipFill>
                <a:blip r:embed="rId3"/>
                <a:stretch>
                  <a:fillRect l="-522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223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6BB63-ED46-C463-B0B2-1B8DE8F27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"/>
            <a:ext cx="5257800" cy="5795963"/>
          </a:xfrm>
        </p:spPr>
        <p:txBody>
          <a:bodyPr/>
          <a:lstStyle/>
          <a:p>
            <a:r>
              <a:rPr lang="en-US" sz="1800" dirty="0"/>
              <a:t>EX:</a:t>
            </a:r>
          </a:p>
          <a:p>
            <a:pPr marL="0" indent="0">
              <a:buNone/>
            </a:pPr>
            <a:r>
              <a:rPr lang="fr-FR" sz="1800" dirty="0"/>
              <a:t>SP </a:t>
            </a:r>
            <a:r>
              <a:rPr lang="fr-FR" sz="1800" dirty="0" err="1"/>
              <a:t>logits</a:t>
            </a:r>
            <a:r>
              <a:rPr lang="fr-FR" sz="1800" dirty="0"/>
              <a:t> = [2.0, 2.5, 1.8, 2.2]</a:t>
            </a:r>
          </a:p>
          <a:p>
            <a:pPr marL="0" indent="0">
              <a:buNone/>
            </a:pPr>
            <a:r>
              <a:rPr lang="fr-FR" sz="1800" dirty="0"/>
              <a:t>SA </a:t>
            </a:r>
            <a:r>
              <a:rPr lang="fr-FR" sz="1800" dirty="0" err="1"/>
              <a:t>logits</a:t>
            </a:r>
            <a:r>
              <a:rPr lang="fr-FR" sz="1800" dirty="0"/>
              <a:t> = [-0.5, -0.8, -0.3, -0.6]</a:t>
            </a:r>
          </a:p>
          <a:p>
            <a:pPr marL="0" indent="0">
              <a:buNone/>
            </a:pPr>
            <a:r>
              <a:rPr lang="en-US" sz="1800" dirty="0"/>
              <a:t>mean SP ≈ 2.125</a:t>
            </a:r>
          </a:p>
          <a:p>
            <a:pPr marL="0" indent="0">
              <a:buNone/>
            </a:pPr>
            <a:r>
              <a:rPr lang="en-US" sz="1800" dirty="0"/>
              <a:t>mean SA ≈ -0.55</a:t>
            </a:r>
          </a:p>
          <a:p>
            <a:pPr marL="0" indent="0">
              <a:buNone/>
            </a:pPr>
            <a:r>
              <a:rPr lang="en-US" sz="1800" dirty="0"/>
              <a:t>difference ≈ 2.675</a:t>
            </a:r>
          </a:p>
          <a:p>
            <a:pPr marL="0" indent="0">
              <a:buNone/>
            </a:pPr>
            <a:r>
              <a:rPr lang="en-US" sz="1800" dirty="0"/>
              <a:t>d′= 2.675/ 0.4 ​≈ 6.69  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That is a high d′, meaning strong separation.</a:t>
            </a:r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2D18CF-37C4-E338-B3DD-57B89A475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121720"/>
              </p:ext>
            </p:extLst>
          </p:nvPr>
        </p:nvGraphicFramePr>
        <p:xfrm>
          <a:off x="6248402" y="381000"/>
          <a:ext cx="5257799" cy="5715006"/>
        </p:xfrm>
        <a:graphic>
          <a:graphicData uri="http://schemas.openxmlformats.org/drawingml/2006/table">
            <a:tbl>
              <a:tblPr/>
              <a:tblGrid>
                <a:gridCol w="1081907">
                  <a:extLst>
                    <a:ext uri="{9D8B030D-6E8A-4147-A177-3AD203B41FA5}">
                      <a16:colId xmlns:a16="http://schemas.microsoft.com/office/drawing/2014/main" val="2728927119"/>
                    </a:ext>
                  </a:extLst>
                </a:gridCol>
                <a:gridCol w="633310">
                  <a:extLst>
                    <a:ext uri="{9D8B030D-6E8A-4147-A177-3AD203B41FA5}">
                      <a16:colId xmlns:a16="http://schemas.microsoft.com/office/drawing/2014/main" val="3819247799"/>
                    </a:ext>
                  </a:extLst>
                </a:gridCol>
                <a:gridCol w="633310">
                  <a:extLst>
                    <a:ext uri="{9D8B030D-6E8A-4147-A177-3AD203B41FA5}">
                      <a16:colId xmlns:a16="http://schemas.microsoft.com/office/drawing/2014/main" val="2721105760"/>
                    </a:ext>
                  </a:extLst>
                </a:gridCol>
                <a:gridCol w="633310">
                  <a:extLst>
                    <a:ext uri="{9D8B030D-6E8A-4147-A177-3AD203B41FA5}">
                      <a16:colId xmlns:a16="http://schemas.microsoft.com/office/drawing/2014/main" val="2538076423"/>
                    </a:ext>
                  </a:extLst>
                </a:gridCol>
                <a:gridCol w="1177564">
                  <a:extLst>
                    <a:ext uri="{9D8B030D-6E8A-4147-A177-3AD203B41FA5}">
                      <a16:colId xmlns:a16="http://schemas.microsoft.com/office/drawing/2014/main" val="2868166519"/>
                    </a:ext>
                  </a:extLst>
                </a:gridCol>
                <a:gridCol w="1098398">
                  <a:extLst>
                    <a:ext uri="{9D8B030D-6E8A-4147-A177-3AD203B41FA5}">
                      <a16:colId xmlns:a16="http://schemas.microsoft.com/office/drawing/2014/main" val="314407821"/>
                    </a:ext>
                  </a:extLst>
                </a:gridCol>
              </a:tblGrid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LesionNum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Method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Dose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ModelDPrime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HumanDPrime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42727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2.45203665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4.73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402230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2.716997481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502288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1.750275147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570793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1.936783297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637934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0.998654649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018601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0.929179714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26874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1.558117982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331834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1.372326025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601836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6.612571097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759186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6.392132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7.45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86218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3.429561613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627148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3.11980699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970757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3.618302423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9.38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989601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2.855662784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8.32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505311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5.203749332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119143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4.704779637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8.68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326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0.267946568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543889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Lesion09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0.405505853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15492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Lesion10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0.399367818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393224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Lesion10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0.198987264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233806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0.89195966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596127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0.707855897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933407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1.083586077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715360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1.05902223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431437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3.162922666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972576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2.794668904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3.57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744497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3.868552299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5949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4.503146304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6.48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36956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9.571176725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13.89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963009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7.635545302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12.42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762608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5.878150133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7.55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948130"/>
                  </a:ext>
                </a:extLst>
              </a:tr>
              <a:tr h="173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Lesion16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FBP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Half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5.762517062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7.11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944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795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6981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877BC"/>
      </a:accent1>
      <a:accent2>
        <a:srgbClr val="7AD0E7"/>
      </a:accent2>
      <a:accent3>
        <a:srgbClr val="F79647"/>
      </a:accent3>
      <a:accent4>
        <a:srgbClr val="F8C946"/>
      </a:accent4>
      <a:accent5>
        <a:srgbClr val="DBDBDB"/>
      </a:accent5>
      <a:accent6>
        <a:srgbClr val="1EC85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1850</TotalTime>
  <Words>3748</Words>
  <Application>Microsoft Office PowerPoint</Application>
  <PresentationFormat>Widescreen</PresentationFormat>
  <Paragraphs>940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 Narrow</vt:lpstr>
      <vt:lpstr>Arial</vt:lpstr>
      <vt:lpstr>Calibri</vt:lpstr>
      <vt:lpstr>Cambria Math</vt:lpstr>
      <vt:lpstr>Wingdings</vt:lpstr>
      <vt:lpstr>1_Office Theme</vt:lpstr>
      <vt:lpstr>Weekly Update</vt:lpstr>
      <vt:lpstr>Multimodal Model</vt:lpstr>
      <vt:lpstr>Feature Extraction - Imaging</vt:lpstr>
      <vt:lpstr>Clinical and Fusion</vt:lpstr>
      <vt:lpstr>Result</vt:lpstr>
      <vt:lpstr>Update on features</vt:lpstr>
      <vt:lpstr>Update Binary/ Multi</vt:lpstr>
      <vt:lpstr>Update 10/09/2025</vt:lpstr>
      <vt:lpstr>Separate Class</vt:lpstr>
      <vt:lpstr>Separate Classes Performance</vt:lpstr>
      <vt:lpstr>Binary</vt:lpstr>
      <vt:lpstr>Multi-Class</vt:lpstr>
      <vt:lpstr>Separate classes</vt:lpstr>
      <vt:lpstr>Update 11/05/2025</vt:lpstr>
      <vt:lpstr>Update 11/06/2025</vt:lpstr>
      <vt:lpstr>Time to Event (practice)</vt:lpstr>
      <vt:lpstr>PowerPoint Presentation</vt:lpstr>
      <vt:lpstr>12/03/2025</vt:lpstr>
      <vt:lpstr>PowerPoint Presentation</vt:lpstr>
      <vt:lpstr>PowerPoint Presentation</vt:lpstr>
      <vt:lpstr>01/15/2026</vt:lpstr>
      <vt:lpstr>PowerPoint Presentation</vt:lpstr>
      <vt:lpstr>References</vt:lpstr>
      <vt:lpstr>Note Analysis</vt:lpstr>
      <vt:lpstr>CT - FBP </vt:lpstr>
      <vt:lpstr>iMAR </vt:lpstr>
      <vt:lpstr>PowerPoint Presentation</vt:lpstr>
      <vt:lpstr>03/09/2026</vt:lpstr>
      <vt:lpstr>04/20/2026</vt:lpstr>
      <vt:lpstr>Literatures</vt:lpstr>
      <vt:lpstr>PowerPoint Presentation</vt:lpstr>
      <vt:lpstr>PowerPoint Presentation</vt:lpstr>
      <vt:lpstr>PowerPoint Presentation</vt:lpstr>
      <vt:lpstr>Update Tabular with MOAKS</vt:lpstr>
      <vt:lpstr>DL- MO CT</vt:lpstr>
      <vt:lpstr>PowerPoint Presentation</vt:lpstr>
      <vt:lpstr>PowerPoint Presentation</vt:lpstr>
    </vt:vector>
  </TitlesOfParts>
  <Company>Cleveland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Graph</dc:title>
  <dc:creator>Zwischenberger, Andrea</dc:creator>
  <cp:lastModifiedBy>pegah ahadian</cp:lastModifiedBy>
  <cp:revision>160</cp:revision>
  <dcterms:created xsi:type="dcterms:W3CDTF">2014-11-21T19:31:52Z</dcterms:created>
  <dcterms:modified xsi:type="dcterms:W3CDTF">2026-04-22T16:08:31Z</dcterms:modified>
</cp:coreProperties>
</file>